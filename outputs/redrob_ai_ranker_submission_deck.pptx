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8433f309b784382" /><Relationship Type="http://schemas.openxmlformats.org/officeDocument/2006/relationships/extended-properties" Target="/docProps/app.xml" Id="R6400eb0ac94a4a2b" /><Relationship Type="http://schemas.openxmlformats.org/officeDocument/2006/relationships/officeDocument" Target="/ppt/presentation.xml" Id="R5be1b45c42674fb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2dc5e182a4b4722"/>
  </p:sldMasterIdLst>
  <p:notesMasterIdLst>
    <p:notesMasterId xmlns:r="http://schemas.openxmlformats.org/officeDocument/2006/relationships" r:id="Re83ebf239ac74201"/>
  </p:notesMasterIdLst>
  <p:sldIdLst>
    <p:sldId xmlns:r="http://schemas.openxmlformats.org/officeDocument/2006/relationships" id="256" r:id="R3232038feb974777"/>
    <p:sldId xmlns:r="http://schemas.openxmlformats.org/officeDocument/2006/relationships" id="257" r:id="R79edf7c962c748f4"/>
    <p:sldId xmlns:r="http://schemas.openxmlformats.org/officeDocument/2006/relationships" id="258" r:id="Rbb3a27d52fea4c08"/>
    <p:sldId xmlns:r="http://schemas.openxmlformats.org/officeDocument/2006/relationships" id="259" r:id="R4874f2233ccd407f"/>
    <p:sldId xmlns:r="http://schemas.openxmlformats.org/officeDocument/2006/relationships" id="260" r:id="R137ce91423aa4c24"/>
    <p:sldId xmlns:r="http://schemas.openxmlformats.org/officeDocument/2006/relationships" id="261" r:id="Recc6f13ee3814ee8"/>
    <p:sldId xmlns:r="http://schemas.openxmlformats.org/officeDocument/2006/relationships" id="262" r:id="R45c1cec099b24f0a"/>
    <p:sldId xmlns:r="http://schemas.openxmlformats.org/officeDocument/2006/relationships" id="263" r:id="Rf6b882554e9c43b1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a18b95205624c3d" /><Relationship Type="http://schemas.openxmlformats.org/officeDocument/2006/relationships/slideMaster" Target="/ppt/slideMasters/slideMaster1.xml" Id="Re2dc5e182a4b4722" /><Relationship Type="http://schemas.openxmlformats.org/officeDocument/2006/relationships/notesMaster" Target="/ppt/notesMasters/notesMaster1.xml" Id="Re83ebf239ac74201" /><Relationship Type="http://schemas.openxmlformats.org/officeDocument/2006/relationships/presProps" Target="/ppt/presProps.xml" Id="Rd3589cef39c346a4" /><Relationship Type="http://schemas.openxmlformats.org/officeDocument/2006/relationships/tableStyles" Target="/ppt/tableStyles.xml" Id="Rde63c839eb594142" /><Relationship Type="http://schemas.openxmlformats.org/officeDocument/2006/relationships/slide" Target="/ppt/slides/slide1.xml" Id="R3232038feb974777" /><Relationship Type="http://schemas.openxmlformats.org/officeDocument/2006/relationships/slide" Target="/ppt/slides/slide2.xml" Id="R79edf7c962c748f4" /><Relationship Type="http://schemas.openxmlformats.org/officeDocument/2006/relationships/slide" Target="/ppt/slides/slide3.xml" Id="Rbb3a27d52fea4c08" /><Relationship Type="http://schemas.openxmlformats.org/officeDocument/2006/relationships/slide" Target="/ppt/slides/slide4.xml" Id="R4874f2233ccd407f" /><Relationship Type="http://schemas.openxmlformats.org/officeDocument/2006/relationships/slide" Target="/ppt/slides/slide5.xml" Id="R137ce91423aa4c24" /><Relationship Type="http://schemas.openxmlformats.org/officeDocument/2006/relationships/slide" Target="/ppt/slides/slide6.xml" Id="Recc6f13ee3814ee8" /><Relationship Type="http://schemas.openxmlformats.org/officeDocument/2006/relationships/slide" Target="/ppt/slides/slide7.xml" Id="R45c1cec099b24f0a" /><Relationship Type="http://schemas.openxmlformats.org/officeDocument/2006/relationships/slide" Target="/ppt/slides/slide8.xml" Id="Rf6b882554e9c43b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0ec9551653f4a0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edf204af7314777" /><Relationship Type="http://schemas.openxmlformats.org/officeDocument/2006/relationships/notesMaster" Target="/ppt/notesMasters/notesMaster1.xml" Id="Ra164a8f257fe445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5103ad9ce954bb7" /><Relationship Type="http://schemas.openxmlformats.org/officeDocument/2006/relationships/notesMaster" Target="/ppt/notesMasters/notesMaster1.xml" Id="R475620f3a7a4408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6fb0bce98d84972" /><Relationship Type="http://schemas.openxmlformats.org/officeDocument/2006/relationships/notesMaster" Target="/ppt/notesMasters/notesMaster1.xml" Id="R00ba81576c2d460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0247228aa2c46a1" /><Relationship Type="http://schemas.openxmlformats.org/officeDocument/2006/relationships/notesMaster" Target="/ppt/notesMasters/notesMaster1.xml" Id="R2f1c102fa517435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b5aa8db82834a69" /><Relationship Type="http://schemas.openxmlformats.org/officeDocument/2006/relationships/notesMaster" Target="/ppt/notesMasters/notesMaster1.xml" Id="R879b904017ae404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7db8aa4e4da4335" /><Relationship Type="http://schemas.openxmlformats.org/officeDocument/2006/relationships/notesMaster" Target="/ppt/notesMasters/notesMaster1.xml" Id="R33268c73a0084b3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03e2b9cfdfb4d5b" /><Relationship Type="http://schemas.openxmlformats.org/officeDocument/2006/relationships/notesMaster" Target="/ppt/notesMasters/notesMaster1.xml" Id="Rb2be7390e25f4351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4465b1feca14b47" /><Relationship Type="http://schemas.openxmlformats.org/officeDocument/2006/relationships/notesMaster" Target="/ppt/notesMasters/notesMaster1.xml" Id="R6b2b005c07e04c9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4a4c49aaa004f93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fb525a0ec0048f4" /><Relationship Type="http://schemas.openxmlformats.org/officeDocument/2006/relationships/slideLayout" Target="/ppt/slideLayouts/slideLayout1.xml" Id="Ra0607e75e50343d4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0607e75e50343d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e0cd5e499c2420e" /><Relationship Type="http://schemas.openxmlformats.org/officeDocument/2006/relationships/notesSlide" Target="/ppt/notesSlides/notesSlide1.xml" Id="R6b9d4050299849f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dff29dcdd1c4ad6" /><Relationship Type="http://schemas.openxmlformats.org/officeDocument/2006/relationships/notesSlide" Target="/ppt/notesSlides/notesSlide2.xml" Id="R2652806fd2b4480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e4aec56599d406b" /><Relationship Type="http://schemas.openxmlformats.org/officeDocument/2006/relationships/notesSlide" Target="/ppt/notesSlides/notesSlide3.xml" Id="R3b96dc00292c4ea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84b94dec5aa4b57" /><Relationship Type="http://schemas.openxmlformats.org/officeDocument/2006/relationships/notesSlide" Target="/ppt/notesSlides/notesSlide4.xml" Id="R49e8383352dd471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818480f79e14585" /><Relationship Type="http://schemas.openxmlformats.org/officeDocument/2006/relationships/notesSlide" Target="/ppt/notesSlides/notesSlide5.xml" Id="Rbe25b9ab0ed64ec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1bddbdb71884fcf" /><Relationship Type="http://schemas.openxmlformats.org/officeDocument/2006/relationships/notesSlide" Target="/ppt/notesSlides/notesSlide6.xml" Id="R84dc4707d83a47e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f5f6a4e963641ba" /><Relationship Type="http://schemas.openxmlformats.org/officeDocument/2006/relationships/notesSlide" Target="/ppt/notesSlides/notesSlide7.xml" Id="R6f07977afb56473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b51cb8c293f478d" /><Relationship Type="http://schemas.openxmlformats.org/officeDocument/2006/relationships/notesSlide" Target="/ppt/notesSlides/notesSlide8.xml" Id="Re55be1c66fd24b3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8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497E0C5-7338-4792-A814-42F1EDAB6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D0B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B482F4-0D8D-4F2B-9FBB-A0C12E2E9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35D0B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35D0BA"/>
                </a:solidFill>
                <a:latin typeface="Aptos"/>
                <a:ea typeface="Aptos"/>
                <a:cs typeface="Aptos"/>
              </a:rPr>
              <a:t>REDROB DATA &amp; AI CHALLENGE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5A0C7A2-0965-42D5-AC9C-BA4409348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66800"/>
            <a:ext cx="7334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750" b="1">
                <a:solidFill>
                  <a:srgbClr val="F6FAFD"/>
                </a:solidFill>
                <a:latin typeface="Aptos Display"/>
                <a:ea typeface="Aptos Display"/>
                <a:cs typeface="Aptos Display"/>
              </a:defRPr>
            </a:pPr>
            <a:r>
              <a:rPr sz="3750" b="1">
                <a:solidFill>
                  <a:srgbClr val="F6FAFD"/>
                </a:solidFill>
                <a:latin typeface="Aptos Display"/>
                <a:ea typeface="Aptos Display"/>
                <a:cs typeface="Aptos Display"/>
              </a:rPr>
              <a:t>From 100,000 profiles</a:t>
            </a:r>
          </a:p>
          <a:p xmlns:a="http://schemas.openxmlformats.org/drawingml/2006/main">
            <a:pPr algn="l">
              <a:buNone/>
              <a:defRPr sz="3750" b="1">
                <a:solidFill>
                  <a:srgbClr val="F6FAFD"/>
                </a:solidFill>
                <a:latin typeface="Aptos Display"/>
                <a:ea typeface="Aptos Display"/>
                <a:cs typeface="Aptos Display"/>
              </a:defRPr>
            </a:pPr>
            <a:r>
              <a:rPr sz="3750" b="1">
                <a:solidFill>
                  <a:srgbClr val="F6FAFD"/>
                </a:solidFill>
                <a:latin typeface="Aptos Display"/>
                <a:ea typeface="Aptos Display"/>
                <a:cs typeface="Aptos Display"/>
              </a:rPr>
              <a:t>to a shortlist recruiters can trust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8836373-774F-466A-B68B-7225378E4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724150"/>
            <a:ext cx="685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93A4B8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93A4B8"/>
                </a:solidFill>
                <a:latin typeface="Aptos"/>
                <a:ea typeface="Aptos"/>
                <a:cs typeface="Aptos"/>
              </a:rPr>
              <a:t>A deterministic candidate ranking system built to understand fit, reject traps, and survive reproduction.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BA9ABCD-6A1B-4C51-97B9-F037E2678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638550"/>
            <a:ext cx="112395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17263A"/>
          </a:solidFill>
          <a:ln xmlns:a="http://schemas.openxmlformats.org/drawingml/2006/main" w="9525">
            <a:solidFill>
              <a:srgbClr val="35D0B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852F0C7-57DE-4635-8268-829A039DE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686175"/>
            <a:ext cx="933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825" b="1">
                <a:solidFill>
                  <a:srgbClr val="35D0BA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35D0BA"/>
                </a:solidFill>
                <a:latin typeface="Aptos"/>
                <a:ea typeface="Aptos"/>
                <a:cs typeface="Aptos"/>
              </a:rPr>
              <a:t>CPU ONLY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692B461-3611-4027-BD3E-E41784FB7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3638550"/>
            <a:ext cx="135255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17263A"/>
          </a:solidFill>
          <a:ln xmlns:a="http://schemas.openxmlformats.org/drawingml/2006/main" w="9525">
            <a:solidFill>
              <a:srgbClr val="35D0B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039140E-CDBF-44F8-985C-3BF9F5CEB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3686175"/>
            <a:ext cx="1162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825" b="1">
                <a:solidFill>
                  <a:srgbClr val="35D0BA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35D0BA"/>
                </a:solidFill>
                <a:latin typeface="Aptos"/>
                <a:ea typeface="Aptos"/>
                <a:cs typeface="Aptos"/>
              </a:rPr>
              <a:t>NO NETWORK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1AF4390-CEB4-4652-BB30-FC31F3802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638550"/>
            <a:ext cx="180975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17263A"/>
          </a:solidFill>
          <a:ln xmlns:a="http://schemas.openxmlformats.org/drawingml/2006/main" w="9525">
            <a:solidFill>
              <a:srgbClr val="FFB54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335447C-3B13-4370-82F8-EBD849C14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3686175"/>
            <a:ext cx="1619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825" b="1">
                <a:solidFill>
                  <a:srgbClr val="FFB547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FFB547"/>
                </a:solidFill>
                <a:latin typeface="Aptos"/>
                <a:ea typeface="Aptos"/>
                <a:cs typeface="Aptos"/>
              </a:rPr>
              <a:t>EVIDENCE-GROUNDED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EF424C9-9822-4D16-9056-22D0D80A3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476750"/>
            <a:ext cx="2381250" cy="1162050"/>
          </a:xfrm>
          <a:prstGeom xmlns:a="http://schemas.openxmlformats.org/drawingml/2006/main" prst="roundRect">
            <a:avLst>
              <a:gd name="adj" fmla="val 6557"/>
            </a:avLst>
          </a:prstGeom>
          <a:solidFill xmlns:a="http://schemas.openxmlformats.org/drawingml/2006/main">
            <a:srgbClr val="111D2E"/>
          </a:solidFill>
          <a:ln xmlns:a="http://schemas.openxmlformats.org/drawingml/2006/main" w="9525">
            <a:solidFill>
              <a:srgbClr val="29405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B83C8B4-E676-4086-A064-EA71E7A99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648200"/>
            <a:ext cx="20383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35D0BA"/>
                </a:solidFill>
                <a:latin typeface="Aptos"/>
                <a:ea typeface="Aptos"/>
                <a:cs typeface="Aptos"/>
              </a:defRPr>
            </a:pPr>
            <a:r>
              <a:rPr sz="3150" b="1">
                <a:solidFill>
                  <a:srgbClr val="35D0BA"/>
                </a:solidFill>
                <a:latin typeface="Aptos"/>
                <a:ea typeface="Aptos"/>
                <a:cs typeface="Aptos"/>
              </a:rPr>
              <a:t>84.6s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D57DCE0-5071-4F3A-99B6-293D84415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219700"/>
            <a:ext cx="2038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93A4B8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93A4B8"/>
                </a:solidFill>
                <a:latin typeface="Aptos"/>
                <a:ea typeface="Aptos"/>
                <a:cs typeface="Aptos"/>
              </a:rPr>
              <a:t>full-pool runtime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B2D3048-7518-436B-942D-BD673DBA4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476750"/>
            <a:ext cx="2381250" cy="1162050"/>
          </a:xfrm>
          <a:prstGeom xmlns:a="http://schemas.openxmlformats.org/drawingml/2006/main" prst="roundRect">
            <a:avLst>
              <a:gd name="adj" fmla="val 6557"/>
            </a:avLst>
          </a:prstGeom>
          <a:solidFill xmlns:a="http://schemas.openxmlformats.org/drawingml/2006/main">
            <a:srgbClr val="111D2E"/>
          </a:solidFill>
          <a:ln xmlns:a="http://schemas.openxmlformats.org/drawingml/2006/main" w="9525">
            <a:solidFill>
              <a:srgbClr val="29405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B293496-146E-48C5-89A4-BF3546694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4648200"/>
            <a:ext cx="20383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35D0BA"/>
                </a:solidFill>
                <a:latin typeface="Aptos"/>
                <a:ea typeface="Aptos"/>
                <a:cs typeface="Aptos"/>
              </a:defRPr>
            </a:pPr>
            <a:r>
              <a:rPr sz="3150" b="1">
                <a:solidFill>
                  <a:srgbClr val="35D0BA"/>
                </a:solidFill>
                <a:latin typeface="Aptos"/>
                <a:ea typeface="Aptos"/>
                <a:cs typeface="Aptos"/>
              </a:rPr>
              <a:t>0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E7D666D-D173-4A21-9F68-154AAF49B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5219700"/>
            <a:ext cx="2038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93A4B8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93A4B8"/>
                </a:solidFill>
                <a:latin typeface="Aptos"/>
                <a:ea typeface="Aptos"/>
                <a:cs typeface="Aptos"/>
              </a:rPr>
              <a:t>honeypots in top 100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B91138E-279A-4ED3-922C-1BA6CE611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4476750"/>
            <a:ext cx="2667000" cy="1162050"/>
          </a:xfrm>
          <a:prstGeom xmlns:a="http://schemas.openxmlformats.org/drawingml/2006/main" prst="roundRect">
            <a:avLst>
              <a:gd name="adj" fmla="val 6557"/>
            </a:avLst>
          </a:prstGeom>
          <a:solidFill xmlns:a="http://schemas.openxmlformats.org/drawingml/2006/main">
            <a:srgbClr val="111D2E"/>
          </a:solidFill>
          <a:ln xmlns:a="http://schemas.openxmlformats.org/drawingml/2006/main" w="9525">
            <a:solidFill>
              <a:srgbClr val="29405B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1F1E9ED-E281-4738-8D24-69FA4F3D9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648200"/>
            <a:ext cx="23241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FFB547"/>
                </a:solidFill>
                <a:latin typeface="Aptos"/>
                <a:ea typeface="Aptos"/>
                <a:cs typeface="Aptos"/>
              </a:defRPr>
            </a:pPr>
            <a:r>
              <a:rPr sz="3150" b="1">
                <a:solidFill>
                  <a:srgbClr val="FFB547"/>
                </a:solidFill>
                <a:latin typeface="Aptos"/>
                <a:ea typeface="Aptos"/>
                <a:cs typeface="Aptos"/>
              </a:rPr>
              <a:t>10/10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F3744A7-8D54-40F0-886E-2B6B07AB3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5219700"/>
            <a:ext cx="2324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93A4B8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93A4B8"/>
                </a:solidFill>
                <a:latin typeface="Aptos"/>
                <a:ea typeface="Aptos"/>
                <a:cs typeface="Aptos"/>
              </a:rPr>
              <a:t>exact-match tier in top 10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A6DB63F-2D8D-45DF-BB87-CC630B703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990600"/>
            <a:ext cx="2381250" cy="4095750"/>
          </a:xfrm>
          <a:prstGeom xmlns:a="http://schemas.openxmlformats.org/drawingml/2006/main" prst="roundRect">
            <a:avLst>
              <a:gd name="adj" fmla="val 3200"/>
            </a:avLst>
          </a:prstGeom>
          <a:solidFill xmlns:a="http://schemas.openxmlformats.org/drawingml/2006/main">
            <a:srgbClr val="17263A"/>
          </a:solidFill>
          <a:ln xmlns:a="http://schemas.openxmlformats.org/drawingml/2006/main" w="9525">
            <a:solidFill>
              <a:srgbClr val="35D0B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6319FAD-3788-4D5D-A3B4-23EAC0994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1352550"/>
            <a:ext cx="1714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4050" b="1">
                <a:solidFill>
                  <a:srgbClr val="35D0BA"/>
                </a:solidFill>
                <a:latin typeface="Aptos Display"/>
                <a:ea typeface="Aptos Display"/>
                <a:cs typeface="Aptos Display"/>
              </a:defRPr>
            </a:pPr>
            <a:r>
              <a:rPr sz="4050" b="1">
                <a:solidFill>
                  <a:srgbClr val="35D0BA"/>
                </a:solidFill>
                <a:latin typeface="Aptos Display"/>
                <a:ea typeface="Aptos Display"/>
                <a:cs typeface="Aptos Display"/>
              </a:rPr>
              <a:t>V7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679731E-7B97-4621-AC7D-CA136711F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190750"/>
            <a:ext cx="1809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F6FAFD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6FAFD"/>
                </a:solidFill>
                <a:latin typeface="Aptos"/>
                <a:ea typeface="Aptos"/>
                <a:cs typeface="Aptos"/>
              </a:rPr>
              <a:t>CALIBRATED</a:t>
            </a:r>
          </a:p>
          <a:p xmlns:a="http://schemas.openxmlformats.org/drawingml/2006/main">
            <a:pPr algn="ctr">
              <a:buNone/>
              <a:defRPr sz="1650" b="1">
                <a:solidFill>
                  <a:srgbClr val="F6FAFD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6FAFD"/>
                </a:solidFill>
                <a:latin typeface="Aptos"/>
                <a:ea typeface="Aptos"/>
                <a:cs typeface="Aptos"/>
              </a:rPr>
              <a:t>RANKER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75D388C-2214-49F5-BC43-6D7AD37FA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105150"/>
            <a:ext cx="1428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405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6021F43-4407-4EBD-978D-E22F8B10E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3390900"/>
            <a:ext cx="1619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E9F0F7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E9F0F7"/>
                </a:solidFill>
                <a:latin typeface="Aptos"/>
                <a:ea typeface="Aptos"/>
                <a:cs typeface="Aptos"/>
              </a:rPr>
              <a:t>Fit</a:t>
            </a:r>
          </a:p>
          <a:p xmlns:a="http://schemas.openxmlformats.org/drawingml/2006/main">
            <a:pPr algn="ctr">
              <a:buNone/>
              <a:defRPr sz="1500" b="1">
                <a:solidFill>
                  <a:srgbClr val="E9F0F7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E9F0F7"/>
                </a:solidFill>
                <a:latin typeface="Aptos"/>
                <a:ea typeface="Aptos"/>
                <a:cs typeface="Aptos"/>
              </a:rPr>
              <a:t>+ Availability</a:t>
            </a:r>
          </a:p>
          <a:p xmlns:a="http://schemas.openxmlformats.org/drawingml/2006/main">
            <a:pPr algn="ctr">
              <a:buNone/>
              <a:defRPr sz="1500" b="1">
                <a:solidFill>
                  <a:srgbClr val="E9F0F7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E9F0F7"/>
                </a:solidFill>
                <a:latin typeface="Aptos"/>
                <a:ea typeface="Aptos"/>
                <a:cs typeface="Aptos"/>
              </a:rPr>
              <a:t>+ Integrity</a:t>
            </a:r>
          </a:p>
          <a:p xmlns:a="http://schemas.openxmlformats.org/drawingml/2006/main">
            <a:pPr algn="ctr">
              <a:buNone/>
              <a:defRPr sz="1500" b="1">
                <a:solidFill>
                  <a:srgbClr val="E9F0F7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E9F0F7"/>
                </a:solidFill>
                <a:latin typeface="Aptos"/>
                <a:ea typeface="Aptos"/>
                <a:cs typeface="Aptos"/>
              </a:rPr>
              <a:t>+ Reasoning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4202731-9E10-42BA-8515-6733E3A39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198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405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B6A80F2-F8D0-4490-9E2A-A9A2022E5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93A4B8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93A4B8"/>
                </a:solidFill>
                <a:latin typeface="Aptos"/>
                <a:ea typeface="Aptos"/>
                <a:cs typeface="Aptos"/>
              </a:rPr>
              <a:t>Measured locally on the released 100,000-candidate pool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A55D916-824B-4A7A-A819-0EB48A959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35D0BA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35D0BA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C59F148-6F81-41A2-BB5A-EDC2B3231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95300"/>
            <a:ext cx="5429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9FB0C5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9FB0C5"/>
                </a:solidFill>
                <a:latin typeface="Aptos"/>
                <a:ea typeface="Aptos"/>
                <a:cs typeface="Aptos"/>
              </a:rPr>
              <a:t>THE INDIC PROTOCOL  ·  PARTICIPANT 686b95d376ce14837de12b88</a:t>
            </a:r>
          </a:p>
        </p:txBody>
      </p:sp>
    </p:spTree>
    <p:extLst>
      <p:ext uri="{BB962C8B-B14F-4D97-AF65-F5344CB8AC3E}">
        <p14:creationId xmlns:p14="http://schemas.microsoft.com/office/powerpoint/2010/main" val="127807762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8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3544A61-CEBB-4827-B65A-5CBA59A27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0050"/>
            <a:ext cx="4000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D0B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106CA31-0176-4EBB-ABF9-832A3ADC8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048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35D0BA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35D0BA"/>
                </a:solidFill>
                <a:latin typeface="Aptos"/>
                <a:ea typeface="Aptos"/>
                <a:cs typeface="Aptos"/>
              </a:rPr>
              <a:t>SCORING TARGET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F974C22-2EAA-43D4-9AAA-BDE9BCF56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85800"/>
            <a:ext cx="10763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F6FAFD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F6FAFD"/>
                </a:solidFill>
                <a:latin typeface="Aptos Display"/>
                <a:ea typeface="Aptos Display"/>
                <a:cs typeface="Aptos Display"/>
              </a:rPr>
              <a:t>The metric rewards precision where recruiters feel it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5558B11-D3BD-4D3E-A849-4BDFDA943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198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405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9D5E760-2E8D-4EE3-A50C-AD9932306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93A4B8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93A4B8"/>
                </a:solidFill>
                <a:latin typeface="Aptos"/>
                <a:ea typeface="Aptos"/>
                <a:cs typeface="Aptos"/>
              </a:rPr>
              <a:t>Local code + official challenge bundle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C020749-D23B-4041-B578-88EA7E382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35D0BA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35D0BA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D7BE5AC-AAD5-46D3-BF09-F3681E51C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57300"/>
            <a:ext cx="7429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93A4B8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93A4B8"/>
                </a:solidFill>
                <a:latin typeface="Aptos"/>
                <a:ea typeface="Aptos"/>
                <a:cs typeface="Aptos"/>
              </a:rPr>
              <a:t>Top-10 quality carries half of the final score. The design therefore protects the first page aggressively instead of optimizing broad recall.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1B593E4-417A-4BD7-8B0E-DBB1D5BE0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1717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6FAFD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6FAFD"/>
                </a:solidFill>
                <a:latin typeface="Aptos"/>
                <a:ea typeface="Aptos"/>
                <a:cs typeface="Aptos"/>
              </a:rPr>
              <a:t>NDCG@10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8754CEE-0D15-47E8-BE12-A00FF74EC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2200275"/>
            <a:ext cx="6191250" cy="2286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1726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0A95FBA-8BE8-4DC7-BC94-031F46672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2200275"/>
            <a:ext cx="6191250" cy="2286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35D0B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F5742BA-90FA-4D1F-B711-BFE44C759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162175"/>
            <a:ext cx="76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500" b="1">
                <a:solidFill>
                  <a:srgbClr val="35D0BA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35D0BA"/>
                </a:solidFill>
                <a:latin typeface="Aptos"/>
                <a:ea typeface="Aptos"/>
                <a:cs typeface="Aptos"/>
              </a:rPr>
              <a:t>50%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DF334F6-3078-4C28-B96C-5C2F003E9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9146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6FAFD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6FAFD"/>
                </a:solidFill>
                <a:latin typeface="Aptos"/>
                <a:ea typeface="Aptos"/>
                <a:cs typeface="Aptos"/>
              </a:rPr>
              <a:t>NDCG@50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B3D2FD7-197F-4BDF-8DE8-F9FDF07F7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2943225"/>
            <a:ext cx="6191250" cy="2286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1726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4F47DE4-E831-4A0B-BF5A-0201D4AB9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2943225"/>
            <a:ext cx="3714750" cy="2286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FFB5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BEA7437-6C0D-4299-B9BC-847ABA6F8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905125"/>
            <a:ext cx="76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500" b="1">
                <a:solidFill>
                  <a:srgbClr val="FFB547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FB547"/>
                </a:solidFill>
                <a:latin typeface="Aptos"/>
                <a:ea typeface="Aptos"/>
                <a:cs typeface="Aptos"/>
              </a:rPr>
              <a:t>30%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37FAF88-7070-47A7-A188-26FBD5F5E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576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6FAFD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6FAFD"/>
                </a:solidFill>
                <a:latin typeface="Aptos"/>
                <a:ea typeface="Aptos"/>
                <a:cs typeface="Aptos"/>
              </a:rPr>
              <a:t>MAP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94EC28F-A3AE-4C27-AA7D-D131F5265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3686175"/>
            <a:ext cx="6191250" cy="2286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1726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09C8B17-B591-4C4B-B58D-7B9AA0E6B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3686175"/>
            <a:ext cx="1857375" cy="2286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7E9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415654B-B6C2-44E8-94F4-507FF3E98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648075"/>
            <a:ext cx="76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500" b="1">
                <a:solidFill>
                  <a:srgbClr val="7E9BE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7E9BEF"/>
                </a:solidFill>
                <a:latin typeface="Aptos"/>
                <a:ea typeface="Aptos"/>
                <a:cs typeface="Aptos"/>
              </a:rPr>
              <a:t>15%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F8CE742-B63E-4554-876A-2F7452E9A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4005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6FAFD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6FAFD"/>
                </a:solidFill>
                <a:latin typeface="Aptos"/>
                <a:ea typeface="Aptos"/>
                <a:cs typeface="Aptos"/>
              </a:rPr>
              <a:t>P@10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A591D2F-6AC3-4F26-9E96-E8F3B313E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4429125"/>
            <a:ext cx="6191250" cy="2286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1726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D12E200-EEE8-4520-9511-83B75DF08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4429125"/>
            <a:ext cx="619125" cy="2286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D37E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E0E926A-5DF6-4A5B-BBDD-F77B1B2AF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4391025"/>
            <a:ext cx="76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500" b="1">
                <a:solidFill>
                  <a:srgbClr val="D37EF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D37EF0"/>
                </a:solidFill>
                <a:latin typeface="Aptos"/>
                <a:ea typeface="Aptos"/>
                <a:cs typeface="Aptos"/>
              </a:rPr>
              <a:t>5%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EB13938-0C41-428D-8B69-4506B24A8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1752600"/>
            <a:ext cx="2190750" cy="339090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111D2E"/>
          </a:solidFill>
          <a:ln xmlns:a="http://schemas.openxmlformats.org/drawingml/2006/main" w="9525">
            <a:solidFill>
              <a:srgbClr val="29405B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7F72C9C-B9B3-4C01-AAE4-67C556C73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20002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35D0B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35D0BA"/>
                </a:solidFill>
                <a:latin typeface="Aptos"/>
                <a:ea typeface="Aptos"/>
                <a:cs typeface="Aptos"/>
              </a:rPr>
              <a:t>DESIGN CONSEQUENCE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EE405FD-D50C-46C8-AD03-3A853A68C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2419350"/>
            <a:ext cx="171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F6FAFD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F6FAFD"/>
                </a:solidFill>
                <a:latin typeface="Aptos Display"/>
                <a:ea typeface="Aptos Display"/>
                <a:cs typeface="Aptos Display"/>
              </a:rPr>
              <a:t>Protect the top 10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9D3E600-3CFE-4583-9C59-22D1BECC2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3181350"/>
            <a:ext cx="1733550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E9F0F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E9F0F7"/>
                </a:solidFill>
                <a:latin typeface="Aptos"/>
                <a:ea typeface="Aptos"/>
                <a:cs typeface="Aptos"/>
              </a:rPr>
              <a:t>- exact-match career evidence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125" b="0">
                <a:solidFill>
                  <a:srgbClr val="E9F0F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E9F0F7"/>
                </a:solidFill>
                <a:latin typeface="Aptos"/>
                <a:ea typeface="Aptos"/>
                <a:cs typeface="Aptos"/>
              </a:rPr>
              <a:t>- hard availability gates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125" b="0">
                <a:solidFill>
                  <a:srgbClr val="E9F0F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E9F0F7"/>
                </a:solidFill>
                <a:latin typeface="Aptos"/>
                <a:ea typeface="Aptos"/>
                <a:cs typeface="Aptos"/>
              </a:rPr>
              <a:t>- decisive honeypot removal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125" b="0">
                <a:solidFill>
                  <a:srgbClr val="E9F0F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E9F0F7"/>
                </a:solidFill>
                <a:latin typeface="Aptos"/>
                <a:ea typeface="Aptos"/>
                <a:cs typeface="Aptos"/>
              </a:rPr>
              <a:t>- deterministic tie-breaking</a:t>
            </a:r>
          </a:p>
        </p:txBody>
      </p:sp>
    </p:spTree>
    <p:extLst>
      <p:ext uri="{BB962C8B-B14F-4D97-AF65-F5344CB8AC3E}">
        <p14:creationId xmlns:p14="http://schemas.microsoft.com/office/powerpoint/2010/main" val="147644493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8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E6D88E6-C98B-449F-B44C-CF06E112D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0050"/>
            <a:ext cx="4000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D0B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EE1F490-1704-458C-97F6-A43416E5B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048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35D0BA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35D0BA"/>
                </a:solidFill>
                <a:latin typeface="Aptos"/>
                <a:ea typeface="Aptos"/>
                <a:cs typeface="Aptos"/>
              </a:rPr>
              <a:t>READ BETWEEN THE LINES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68DE1D2-54E4-4369-A21A-D7E31A0DF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85800"/>
            <a:ext cx="10763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F6FAFD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F6FAFD"/>
                </a:solidFill>
                <a:latin typeface="Aptos Display"/>
                <a:ea typeface="Aptos Display"/>
                <a:cs typeface="Aptos Display"/>
              </a:rPr>
              <a:t>The JD is a systems-thinking problem, not a keyword query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CD85ADC-E4A3-4040-AF54-3793F64B5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198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405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18ED6F5-7962-4DA3-BF9B-3DA8C772F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93A4B8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93A4B8"/>
                </a:solidFill>
                <a:latin typeface="Aptos"/>
                <a:ea typeface="Aptos"/>
                <a:cs typeface="Aptos"/>
              </a:rPr>
              <a:t>Local code + official challenge bundle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5456261-083D-40FB-AA28-C8DE20430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35D0BA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35D0BA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24A0CFF-5829-4124-942D-79FD8EF69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524000"/>
            <a:ext cx="5219700" cy="1676400"/>
          </a:xfrm>
          <a:prstGeom xmlns:a="http://schemas.openxmlformats.org/drawingml/2006/main" prst="roundRect">
            <a:avLst>
              <a:gd name="adj" fmla="val 4545"/>
            </a:avLst>
          </a:prstGeom>
          <a:solidFill xmlns:a="http://schemas.openxmlformats.org/drawingml/2006/main">
            <a:srgbClr val="111D2E"/>
          </a:solidFill>
          <a:ln xmlns:a="http://schemas.openxmlformats.org/drawingml/2006/main" w="9525">
            <a:solidFill>
              <a:srgbClr val="29405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3B3D612-7822-413C-80EA-53C7D8FC4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524000"/>
            <a:ext cx="76200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D0B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0AFA08B-F50A-4F43-815A-47AD2F74C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733550"/>
            <a:ext cx="2000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35D0B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35D0BA"/>
                </a:solidFill>
                <a:latin typeface="Aptos"/>
                <a:ea typeface="Aptos"/>
                <a:cs typeface="Aptos"/>
              </a:rPr>
              <a:t>DEPTH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A93797C-3AE1-467B-8306-7402BD486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57400"/>
            <a:ext cx="4572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F6FAFD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F6FAFD"/>
                </a:solidFill>
                <a:latin typeface="Aptos"/>
                <a:ea typeface="Aptos"/>
                <a:cs typeface="Aptos"/>
              </a:rPr>
              <a:t>Embeddings, retrieval, ranking, vector search, evaluation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2656D4E-880C-4409-B9E4-1CF7C3E08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86050"/>
            <a:ext cx="4572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93A4B8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93A4B8"/>
                </a:solidFill>
                <a:latin typeface="Aptos"/>
                <a:ea typeface="Aptos"/>
                <a:cs typeface="Aptos"/>
              </a:rPr>
              <a:t>Career evidence over skill-list density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3D66FFD-B280-4F1B-AF52-13C5FA336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524000"/>
            <a:ext cx="5219700" cy="1676400"/>
          </a:xfrm>
          <a:prstGeom xmlns:a="http://schemas.openxmlformats.org/drawingml/2006/main" prst="roundRect">
            <a:avLst>
              <a:gd name="adj" fmla="val 4545"/>
            </a:avLst>
          </a:prstGeom>
          <a:solidFill xmlns:a="http://schemas.openxmlformats.org/drawingml/2006/main">
            <a:srgbClr val="111D2E"/>
          </a:solidFill>
          <a:ln xmlns:a="http://schemas.openxmlformats.org/drawingml/2006/main" w="9525">
            <a:solidFill>
              <a:srgbClr val="29405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17023D1-7210-46EC-9C47-711FB0E40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524000"/>
            <a:ext cx="76200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B5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A85268E-1DBF-45F4-94FB-4692C053B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1733550"/>
            <a:ext cx="2000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FFB547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B547"/>
                </a:solidFill>
                <a:latin typeface="Aptos"/>
                <a:ea typeface="Aptos"/>
                <a:cs typeface="Aptos"/>
              </a:rPr>
              <a:t>SHIPPER MODE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6D49EDB-667D-450E-B1C1-6F778E981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057400"/>
            <a:ext cx="4572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F6FAFD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F6FAFD"/>
                </a:solidFill>
                <a:latin typeface="Aptos"/>
                <a:ea typeface="Aptos"/>
                <a:cs typeface="Aptos"/>
              </a:rPr>
              <a:t>Production ownership, product judgment, recent coding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1761633-498E-41BB-A048-F9109F0B7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686050"/>
            <a:ext cx="4572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93A4B8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93A4B8"/>
                </a:solidFill>
                <a:latin typeface="Aptos"/>
                <a:ea typeface="Aptos"/>
                <a:cs typeface="Aptos"/>
              </a:rPr>
              <a:t>Deployed outcomes over research-only claims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59F1C63-DA03-43F6-BDD2-69002B6C6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524250"/>
            <a:ext cx="5219700" cy="1676400"/>
          </a:xfrm>
          <a:prstGeom xmlns:a="http://schemas.openxmlformats.org/drawingml/2006/main" prst="roundRect">
            <a:avLst>
              <a:gd name="adj" fmla="val 4545"/>
            </a:avLst>
          </a:prstGeom>
          <a:solidFill xmlns:a="http://schemas.openxmlformats.org/drawingml/2006/main">
            <a:srgbClr val="111D2E"/>
          </a:solidFill>
          <a:ln xmlns:a="http://schemas.openxmlformats.org/drawingml/2006/main" w="9525">
            <a:solidFill>
              <a:srgbClr val="29405B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B7B7129-F965-4400-9B39-942FACFD7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524250"/>
            <a:ext cx="76200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E9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C173C3B-1798-4420-9D5D-63C450410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733800"/>
            <a:ext cx="2000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7E9BE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7E9BEF"/>
                </a:solidFill>
                <a:latin typeface="Aptos"/>
                <a:ea typeface="Aptos"/>
                <a:cs typeface="Aptos"/>
              </a:rPr>
              <a:t>FIT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0D8EA7F-BC02-4815-BA4F-D6FA4F4D4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057650"/>
            <a:ext cx="4572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F6FAFD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F6FAFD"/>
                </a:solidFill>
                <a:latin typeface="Aptos"/>
                <a:ea typeface="Aptos"/>
                <a:cs typeface="Aptos"/>
              </a:rPr>
              <a:t>Product-company context, stable trajectory, India logistics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2669D12-4558-41EE-B592-E88DE096C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686300"/>
            <a:ext cx="4572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93A4B8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93A4B8"/>
                </a:solidFill>
                <a:latin typeface="Aptos"/>
                <a:ea typeface="Aptos"/>
                <a:cs typeface="Aptos"/>
              </a:rPr>
              <a:t>Role intent over title prestige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120711A-892B-4042-9A73-EFF569EFD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524250"/>
            <a:ext cx="5219700" cy="1676400"/>
          </a:xfrm>
          <a:prstGeom xmlns:a="http://schemas.openxmlformats.org/drawingml/2006/main" prst="roundRect">
            <a:avLst>
              <a:gd name="adj" fmla="val 4545"/>
            </a:avLst>
          </a:prstGeom>
          <a:solidFill xmlns:a="http://schemas.openxmlformats.org/drawingml/2006/main">
            <a:srgbClr val="111D2E"/>
          </a:solidFill>
          <a:ln xmlns:a="http://schemas.openxmlformats.org/drawingml/2006/main" w="9525">
            <a:solidFill>
              <a:srgbClr val="29405B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1ACF653-DD1F-44E6-87BA-5016D5F43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524250"/>
            <a:ext cx="76200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7E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3316E09-454C-4548-A91F-420A5DA61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733800"/>
            <a:ext cx="2000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D37EF0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D37EF0"/>
                </a:solidFill>
                <a:latin typeface="Aptos"/>
                <a:ea typeface="Aptos"/>
                <a:cs typeface="Aptos"/>
              </a:rPr>
              <a:t>HIRABILITY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DCA4A38-1B60-4B84-8B17-A30B7A0F5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057650"/>
            <a:ext cx="4572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F6FAFD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F6FAFD"/>
                </a:solidFill>
                <a:latin typeface="Aptos"/>
                <a:ea typeface="Aptos"/>
                <a:cs typeface="Aptos"/>
              </a:rPr>
              <a:t>Recent activity, response behavior, interview reliability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6951EE8-BAD3-4F27-A395-632D0C3C1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686300"/>
            <a:ext cx="4572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93A4B8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93A4B8"/>
                </a:solidFill>
                <a:latin typeface="Aptos"/>
                <a:ea typeface="Aptos"/>
                <a:cs typeface="Aptos"/>
              </a:rPr>
              <a:t>Reachability over paper perfection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D1D1B2D-18CF-4466-9726-CA445B351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5562600"/>
            <a:ext cx="75057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17263A"/>
          </a:solidFill>
          <a:ln xmlns:a="http://schemas.openxmlformats.org/drawingml/2006/main" w="9525">
            <a:solidFill>
              <a:srgbClr val="FF6B6B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D633325-9F4F-482F-8006-83F30414D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5676900"/>
            <a:ext cx="7048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6B6B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F6B6B"/>
                </a:solidFill>
                <a:latin typeface="Aptos"/>
                <a:ea typeface="Aptos"/>
                <a:cs typeface="Aptos"/>
              </a:rPr>
              <a:t>TRAP: perfect AI keywords + contradictory career or stale behavior = not a strong candidate</a:t>
            </a:r>
          </a:p>
        </p:txBody>
      </p:sp>
    </p:spTree>
    <p:extLst>
      <p:ext uri="{BB962C8B-B14F-4D97-AF65-F5344CB8AC3E}">
        <p14:creationId xmlns:p14="http://schemas.microsoft.com/office/powerpoint/2010/main" val="48066408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8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C2BAB0C-DF27-4926-A5C9-C0AA5065A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0050"/>
            <a:ext cx="4000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D0B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09F9B44-32A1-4EA2-8AE9-054FF5093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048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35D0BA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35D0BA"/>
                </a:solidFill>
                <a:latin typeface="Aptos"/>
                <a:ea typeface="Aptos"/>
                <a:cs typeface="Aptos"/>
              </a:rPr>
              <a:t>RANKING ARCHITECTURE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6B7D565-5593-4C37-A149-05E9820A6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85800"/>
            <a:ext cx="10763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F6FAFD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F6FAFD"/>
                </a:solidFill>
                <a:latin typeface="Aptos Display"/>
                <a:ea typeface="Aptos Display"/>
                <a:cs typeface="Aptos Display"/>
              </a:rPr>
              <a:t>One auditable score, with explicit gates around it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2B5CFFF-09E9-4438-B135-ACF03303A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198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405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C0F2DFA-2110-413C-A498-06AC318F1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93A4B8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93A4B8"/>
                </a:solidFill>
                <a:latin typeface="Aptos"/>
                <a:ea typeface="Aptos"/>
                <a:cs typeface="Aptos"/>
              </a:rPr>
              <a:t>Local code + official challenge bundle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E0A0A85-2CAA-4ED4-9C91-80AAA9BD3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35D0BA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35D0BA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63D82A2-79B5-4FD8-843C-330DF6414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66850"/>
            <a:ext cx="161925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111D2E"/>
          </a:solidFill>
          <a:ln xmlns:a="http://schemas.openxmlformats.org/drawingml/2006/main" w="9525">
            <a:solidFill>
              <a:srgbClr val="29405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26EB3A0-B32C-47EB-BE7C-7BE16B623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657350"/>
            <a:ext cx="1352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FFB54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FB547"/>
                </a:solidFill>
                <a:latin typeface="Aptos"/>
                <a:ea typeface="Aptos"/>
                <a:cs typeface="Aptos"/>
              </a:rPr>
              <a:t>PARSE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31A5470-B835-4C57-A4A4-7FA49C365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000250"/>
            <a:ext cx="13525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E9F0F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E9F0F7"/>
                </a:solidFill>
                <a:latin typeface="Aptos"/>
                <a:ea typeface="Aptos"/>
                <a:cs typeface="Aptos"/>
              </a:rPr>
              <a:t>profile + career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85B3C4F-FEAF-43F3-9AC1-EA3150A22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1762125"/>
            <a:ext cx="2286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93A4B8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93A4B8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5D28E9A-9151-4A07-A164-A1D7D8FE7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1466850"/>
            <a:ext cx="161925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17263A"/>
          </a:solidFill>
          <a:ln xmlns:a="http://schemas.openxmlformats.org/drawingml/2006/main" w="9525">
            <a:solidFill>
              <a:srgbClr val="35D0B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2290BFB-312D-49F7-B0E1-AB48E5029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1657350"/>
            <a:ext cx="1352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35D0B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35D0BA"/>
                </a:solidFill>
                <a:latin typeface="Aptos"/>
                <a:ea typeface="Aptos"/>
                <a:cs typeface="Aptos"/>
              </a:rPr>
              <a:t>FIT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9AF4E98-A3C0-4B99-95CB-4B6C3D93D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000250"/>
            <a:ext cx="13525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E9F0F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E9F0F7"/>
                </a:solidFill>
                <a:latin typeface="Aptos"/>
                <a:ea typeface="Aptos"/>
                <a:cs typeface="Aptos"/>
              </a:rPr>
              <a:t>10 dimensions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394C32C-66B0-4C53-BF1E-BCFD948A0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7175" y="1762125"/>
            <a:ext cx="2286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93A4B8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93A4B8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FD8C011-5978-4C47-AD61-9D7A423BC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466850"/>
            <a:ext cx="161925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111D2E"/>
          </a:solidFill>
          <a:ln xmlns:a="http://schemas.openxmlformats.org/drawingml/2006/main" w="9525">
            <a:solidFill>
              <a:srgbClr val="29405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669AE57-DA49-4DC9-B87A-D0B3D0782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1657350"/>
            <a:ext cx="1352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FFB54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FB547"/>
                </a:solidFill>
                <a:latin typeface="Aptos"/>
                <a:ea typeface="Aptos"/>
                <a:cs typeface="Aptos"/>
              </a:rPr>
              <a:t>BEHAVIOR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1D7AFBC-ECA7-4B72-9B54-5AA6072BE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000250"/>
            <a:ext cx="13525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E9F0F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E9F0F7"/>
                </a:solidFill>
                <a:latin typeface="Aptos"/>
                <a:ea typeface="Aptos"/>
                <a:cs typeface="Aptos"/>
              </a:rPr>
              <a:t>availability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146BDD4-E858-4705-A387-A971A3E4B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1225" y="1762125"/>
            <a:ext cx="2286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93A4B8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93A4B8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E8BC656-F6D0-4D61-8170-9FAFA1970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1466850"/>
            <a:ext cx="161925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111D2E"/>
          </a:solidFill>
          <a:ln xmlns:a="http://schemas.openxmlformats.org/drawingml/2006/main" w="9525">
            <a:solidFill>
              <a:srgbClr val="29405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ED1CF21-66D4-48B8-817F-3B715E9E1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1657350"/>
            <a:ext cx="1352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FFB54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FB547"/>
                </a:solidFill>
                <a:latin typeface="Aptos"/>
                <a:ea typeface="Aptos"/>
                <a:cs typeface="Aptos"/>
              </a:rPr>
              <a:t>INTEGRITY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E370CA0-E7AC-4F8F-9DE1-8D8CD1800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000250"/>
            <a:ext cx="13525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E9F0F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E9F0F7"/>
                </a:solidFill>
                <a:latin typeface="Aptos"/>
                <a:ea typeface="Aptos"/>
                <a:cs typeface="Aptos"/>
              </a:rPr>
              <a:t>contradictions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0D98037-91D7-463F-B399-EC591FD86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15275" y="1762125"/>
            <a:ext cx="2286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93A4B8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93A4B8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465C0D3-E04E-4CC6-B247-7395B5494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1466850"/>
            <a:ext cx="161925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111D2E"/>
          </a:solidFill>
          <a:ln xmlns:a="http://schemas.openxmlformats.org/drawingml/2006/main" w="9525">
            <a:solidFill>
              <a:srgbClr val="29405B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D4B6D70-E2D1-4726-91B8-AA18BAC95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657350"/>
            <a:ext cx="1352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FFB54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FB547"/>
                </a:solidFill>
                <a:latin typeface="Aptos"/>
                <a:ea typeface="Aptos"/>
                <a:cs typeface="Aptos"/>
              </a:rPr>
              <a:t>RANK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A631D38-CC95-4200-B246-45B21A7ED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000250"/>
            <a:ext cx="13525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E9F0F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E9F0F7"/>
                </a:solidFill>
                <a:latin typeface="Aptos"/>
                <a:ea typeface="Aptos"/>
                <a:cs typeface="Aptos"/>
              </a:rPr>
              <a:t>top 100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4020FFD-E7C1-401D-AC80-6836AF8FD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9325" y="1762125"/>
            <a:ext cx="2286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93A4B8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93A4B8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77C1167-A920-4052-9774-35668EE8F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1466850"/>
            <a:ext cx="161925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111D2E"/>
          </a:solidFill>
          <a:ln xmlns:a="http://schemas.openxmlformats.org/drawingml/2006/main" w="9525">
            <a:solidFill>
              <a:srgbClr val="29405B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C4E6B19-F7A0-4458-B820-0F202088F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10800" y="1657350"/>
            <a:ext cx="1352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FFB54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FB547"/>
                </a:solidFill>
                <a:latin typeface="Aptos"/>
                <a:ea typeface="Aptos"/>
                <a:cs typeface="Aptos"/>
              </a:rPr>
              <a:t>EXPLAIN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77FF638-5532-44BF-968B-B1C489FDD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10800" y="2000250"/>
            <a:ext cx="13525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E9F0F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E9F0F7"/>
                </a:solidFill>
                <a:latin typeface="Aptos"/>
                <a:ea typeface="Aptos"/>
                <a:cs typeface="Aptos"/>
              </a:rPr>
              <a:t>grounded reason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7FD6CD9-C42D-42A4-9AE3-73A4DFE3E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57500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35D0B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35D0BA"/>
                </a:solidFill>
                <a:latin typeface="Aptos"/>
                <a:ea typeface="Aptos"/>
                <a:cs typeface="Aptos"/>
              </a:rPr>
              <a:t>CALIBRATED FIT WEIGHTS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A3B4BB9-14F2-4FEC-8804-5E8A6DF83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575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E9F0F7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E9F0F7"/>
                </a:solidFill>
                <a:latin typeface="Aptos"/>
                <a:ea typeface="Aptos"/>
                <a:cs typeface="Aptos"/>
              </a:rPr>
              <a:t>Template prior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56E52C6-CF07-4A7D-B6DD-F826DAB47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3295650"/>
            <a:ext cx="2667000" cy="152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726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09E6A2A-2244-4C5D-9556-71182B556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3295650"/>
            <a:ext cx="2667000" cy="152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5D0B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BCA88C9-962F-494C-AB24-D6ADE4923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32385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35D0BA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35D0BA"/>
                </a:solidFill>
                <a:latin typeface="Aptos"/>
                <a:ea typeface="Aptos"/>
                <a:cs typeface="Aptos"/>
              </a:rPr>
              <a:t>36%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D765A7D-83D8-4E9F-B44F-6308F1E6E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84810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E9F0F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E9F0F7"/>
                </a:solidFill>
                <a:latin typeface="Aptos"/>
                <a:ea typeface="Aptos"/>
                <a:cs typeface="Aptos"/>
              </a:rPr>
              <a:t>Title + career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A976CF5-E608-495F-903E-92CD63B00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3886200"/>
            <a:ext cx="2667000" cy="152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726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57E714D-C3B7-401F-A0B1-B99319C95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3886200"/>
            <a:ext cx="963083" cy="152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B5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FD4F8DB-D8CE-42AB-8F0A-C0BB9A30F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382905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FFB547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FB547"/>
                </a:solidFill>
                <a:latin typeface="Aptos"/>
                <a:ea typeface="Aptos"/>
                <a:cs typeface="Aptos"/>
              </a:rPr>
              <a:t>13%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4A174F5-8A22-4AF1-9532-7E1D09A22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4386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E9F0F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E9F0F7"/>
                </a:solidFill>
                <a:latin typeface="Aptos"/>
                <a:ea typeface="Aptos"/>
                <a:cs typeface="Aptos"/>
              </a:rPr>
              <a:t>Career-JD evidence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40E296B-9812-4823-8C40-28A737FF5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4476750"/>
            <a:ext cx="2667000" cy="152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726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5C0FDAF-7959-45B4-B6BA-DE604B192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4476750"/>
            <a:ext cx="740833" cy="152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E9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B1BF7A9-3D20-4493-9121-B0C5D9165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44196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7E9BE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7E9BEF"/>
                </a:solidFill>
                <a:latin typeface="Aptos"/>
                <a:ea typeface="Aptos"/>
                <a:cs typeface="Aptos"/>
              </a:rPr>
              <a:t>10%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74C803FD-E06D-45C5-AED9-5A40176A4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02920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E9F0F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E9F0F7"/>
                </a:solidFill>
                <a:latin typeface="Aptos"/>
                <a:ea typeface="Aptos"/>
                <a:cs typeface="Aptos"/>
              </a:rPr>
              <a:t>Trajectory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C5A70462-2E0A-470A-BAF2-D3037A785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5067300"/>
            <a:ext cx="2667000" cy="152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726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F6789AD9-B3DC-459B-8E50-F8C38322E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5067300"/>
            <a:ext cx="666750" cy="152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37E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FF1F04B2-0F49-4C1E-AB8F-97E08072D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501015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D37EF0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D37EF0"/>
                </a:solidFill>
                <a:latin typeface="Aptos"/>
                <a:ea typeface="Aptos"/>
                <a:cs typeface="Aptos"/>
              </a:rPr>
              <a:t>9%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AC29FABA-F60E-461F-9427-2E7958E7F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2575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E9F0F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E9F0F7"/>
                </a:solidFill>
                <a:latin typeface="Aptos"/>
                <a:ea typeface="Aptos"/>
                <a:cs typeface="Aptos"/>
              </a:rPr>
              <a:t>Assessments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C7697F7B-10DF-43F0-8D25-26E7DAA98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295650"/>
            <a:ext cx="2667000" cy="152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726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B25001B0-0325-439C-B0B7-0D65B23C5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295650"/>
            <a:ext cx="592667" cy="152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3C0F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FD5DC5B1-829F-48F7-B9DF-C4ADCD93E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32385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73C0FC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73C0FC"/>
                </a:solidFill>
                <a:latin typeface="Aptos"/>
                <a:ea typeface="Aptos"/>
                <a:cs typeface="Aptos"/>
              </a:rPr>
              <a:t>8%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3129A957-4132-4397-AEB1-949CDC1E7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84810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E9F0F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E9F0F7"/>
                </a:solidFill>
                <a:latin typeface="Aptos"/>
                <a:ea typeface="Aptos"/>
                <a:cs typeface="Aptos"/>
              </a:rPr>
              <a:t>Experience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ADCDAA0A-C8E9-4685-ACE4-279C0E49A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886200"/>
            <a:ext cx="2667000" cy="152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726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B763B559-7652-4118-A7A8-9A3A932E8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886200"/>
            <a:ext cx="518583" cy="152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9AD97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A151EA3C-E47B-4F99-8F1B-90B777EA9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382905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9AD97B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9AD97B"/>
                </a:solidFill>
                <a:latin typeface="Aptos"/>
                <a:ea typeface="Aptos"/>
                <a:cs typeface="Aptos"/>
              </a:rPr>
              <a:t>7%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50D5CC0A-F2B5-4A3E-B431-B8F3013DB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4386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E9F0F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E9F0F7"/>
                </a:solidFill>
                <a:latin typeface="Aptos"/>
                <a:ea typeface="Aptos"/>
                <a:cs typeface="Aptos"/>
              </a:rPr>
              <a:t>Skills + validation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6F6757C6-C050-4C34-AB09-748D804F0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476750"/>
            <a:ext cx="2667000" cy="152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726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41F34BDF-4E80-460C-B8EE-EE1161EEB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476750"/>
            <a:ext cx="740833" cy="152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3A68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9477219A-DD20-4CFD-A8D7-BBDC83832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44196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F3A683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3A683"/>
                </a:solidFill>
                <a:latin typeface="Aptos"/>
                <a:ea typeface="Aptos"/>
                <a:cs typeface="Aptos"/>
              </a:rPr>
              <a:t>10%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15BA18B2-C7F4-4688-9E5A-0EE005617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02920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E9F0F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E9F0F7"/>
                </a:solidFill>
                <a:latin typeface="Aptos"/>
                <a:ea typeface="Aptos"/>
                <a:cs typeface="Aptos"/>
              </a:rPr>
              <a:t>Logistics + education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F61CAAD1-1DB2-4D3C-9364-4B825DF3E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5067300"/>
            <a:ext cx="2667000" cy="152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726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FE91AEB8-EC05-4CC8-B66F-C0320CC5B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5067300"/>
            <a:ext cx="518583" cy="152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93A4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5F1CCA1D-EBF8-44F4-AF48-3226D8D2D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501015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93A4B8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93A4B8"/>
                </a:solidFill>
                <a:latin typeface="Aptos"/>
                <a:ea typeface="Aptos"/>
                <a:cs typeface="Aptos"/>
              </a:rPr>
              <a:t>7%</a:t>
            </a:r>
          </a:p>
        </p:txBody>
      </p:sp>
    </p:spTree>
    <p:extLst>
      <p:ext uri="{BB962C8B-B14F-4D97-AF65-F5344CB8AC3E}">
        <p14:creationId xmlns:p14="http://schemas.microsoft.com/office/powerpoint/2010/main" val="20768347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8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07C906E-3162-44A1-AE3F-29ECDF703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0050"/>
            <a:ext cx="4000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D0B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2B6674B-580C-4997-9A93-873C58451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048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35D0BA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35D0BA"/>
                </a:solidFill>
                <a:latin typeface="Aptos"/>
                <a:ea typeface="Aptos"/>
                <a:cs typeface="Aptos"/>
              </a:rPr>
              <a:t>AUDIT-DRIVEN ENGINEERING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D22D438-676F-421A-AA27-1D6A87BBD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85800"/>
            <a:ext cx="10763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F6FAFD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F6FAFD"/>
                </a:solidFill>
                <a:latin typeface="Aptos Display"/>
                <a:ea typeface="Aptos Display"/>
                <a:cs typeface="Aptos Display"/>
              </a:rPr>
              <a:t>The biggest gains came from removing false confidence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7A6B7E8-A895-4810-A55B-D33EC4061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198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405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DE5F9C1-875C-4E98-B198-BB161BD11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93A4B8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93A4B8"/>
                </a:solidFill>
                <a:latin typeface="Aptos"/>
                <a:ea typeface="Aptos"/>
                <a:cs typeface="Aptos"/>
              </a:rPr>
              <a:t>Local code + official challenge bundle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443F58A-E163-4B0B-A569-8563E1E41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35D0BA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35D0BA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35EA5A8-A549-406F-96FA-114585A54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57300"/>
            <a:ext cx="981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93A4B8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93A4B8"/>
                </a:solidFill>
                <a:latin typeface="Aptos"/>
                <a:ea typeface="Aptos"/>
                <a:cs typeface="Aptos"/>
              </a:rPr>
              <a:t>The initial system looked sophisticated, but several mechanics were not defensible. Each was replaced with a simpler measurable behavior.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605EF55-2E97-4549-8437-7056492EB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924050"/>
            <a:ext cx="142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35D0BA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35D0BA"/>
                </a:solidFill>
                <a:latin typeface="Aptos"/>
                <a:ea typeface="Aptos"/>
                <a:cs typeface="Aptos"/>
              </a:rPr>
              <a:t>AREA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C91222C-9B72-427A-85FF-8F6C441D6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1924050"/>
            <a:ext cx="238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FF6B6B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FF6B6B"/>
                </a:solidFill>
                <a:latin typeface="Aptos"/>
                <a:ea typeface="Aptos"/>
                <a:cs typeface="Aptos"/>
              </a:rPr>
              <a:t>BEFORE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CA9EBB0-7326-4168-96B8-4BD818FE4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1924050"/>
            <a:ext cx="238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35D0BA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35D0BA"/>
                </a:solidFill>
                <a:latin typeface="Aptos"/>
                <a:ea typeface="Aptos"/>
                <a:cs typeface="Aptos"/>
              </a:rPr>
              <a:t>AFTER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9E34D15-FCFD-43DB-8BBC-34BC2F2C6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924050"/>
            <a:ext cx="323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FFB547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FFB547"/>
                </a:solidFill>
                <a:latin typeface="Aptos"/>
                <a:ea typeface="Aptos"/>
                <a:cs typeface="Aptos"/>
              </a:rPr>
              <a:t>WHY IT MATTERS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FE249ED-F0A5-40BB-ACA2-D512FE1D4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228850"/>
            <a:ext cx="1114425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111D2E"/>
          </a:solidFill>
          <a:ln xmlns:a="http://schemas.openxmlformats.org/drawingml/2006/main" w="9525">
            <a:solidFill>
              <a:srgbClr val="29405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A8C6F32-52B8-46C9-8C00-CBEDD5144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5745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6FAFD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6FAFD"/>
                </a:solidFill>
                <a:latin typeface="Aptos"/>
                <a:ea typeface="Aptos"/>
                <a:cs typeface="Aptos"/>
              </a:rPr>
              <a:t>Integrity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20BF986-A4A3-4863-B3B1-F82722613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2390775"/>
            <a:ext cx="2381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FF6B6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FF6B6B"/>
                </a:solidFill>
                <a:latin typeface="Aptos"/>
                <a:ea typeface="Aptos"/>
                <a:cs typeface="Aptos"/>
              </a:rPr>
              <a:t>29,220 profiles penalized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BCFC164-2A69-44F0-91D7-FB32A64D7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2390775"/>
            <a:ext cx="2381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35D0BA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35D0BA"/>
                </a:solidFill>
                <a:latin typeface="Aptos"/>
                <a:ea typeface="Aptos"/>
                <a:cs typeface="Aptos"/>
              </a:rPr>
              <a:t>57 decisive contradictions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787F7E8-C659-48F1-BB46-0AF95940B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390775"/>
            <a:ext cx="3333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E9F0F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E9F0F7"/>
                </a:solidFill>
                <a:latin typeface="Aptos"/>
                <a:ea typeface="Aptos"/>
                <a:cs typeface="Aptos"/>
              </a:rPr>
              <a:t>Fixed current-role date-span false positives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0FECAE9-4543-496C-BB55-469BF7B9A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105150"/>
            <a:ext cx="1114425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17263A"/>
          </a:solidFill>
          <a:ln xmlns:a="http://schemas.openxmlformats.org/drawingml/2006/main" w="9525">
            <a:solidFill>
              <a:srgbClr val="29405B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25F82D6-7F2C-4ABC-A51C-5E4ABC35A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3375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6FAFD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6FAFD"/>
                </a:solidFill>
                <a:latin typeface="Aptos"/>
                <a:ea typeface="Aptos"/>
                <a:cs typeface="Aptos"/>
              </a:rPr>
              <a:t>Behavior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37EC52B-0600-4A92-ACA9-775E85247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3267075"/>
            <a:ext cx="2381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FF6B6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FF6B6B"/>
                </a:solidFill>
                <a:latin typeface="Aptos"/>
                <a:ea typeface="Aptos"/>
                <a:cs typeface="Aptos"/>
              </a:rPr>
              <a:t>Most strong profiles saturated at max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C98E9CE-302D-4E93-9B9A-C04C18128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3267075"/>
            <a:ext cx="2381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35D0BA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35D0BA"/>
                </a:solidFill>
                <a:latin typeface="Aptos"/>
                <a:ea typeface="Aptos"/>
                <a:cs typeface="Aptos"/>
              </a:rPr>
              <a:t>Hundreds of distinct values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A15AE20-D4B8-4FC5-A43C-BF2E4B2D6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267075"/>
            <a:ext cx="3333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E9F0F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E9F0F7"/>
                </a:solidFill>
                <a:latin typeface="Aptos"/>
                <a:ea typeface="Aptos"/>
                <a:cs typeface="Aptos"/>
              </a:rPr>
              <a:t>Removed duplicate counting; added reachability gates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EEF83DF-523D-4B4C-A13A-FD1EFE31E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981450"/>
            <a:ext cx="1114425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111D2E"/>
          </a:solidFill>
          <a:ln xmlns:a="http://schemas.openxmlformats.org/drawingml/2006/main" w="9525">
            <a:solidFill>
              <a:srgbClr val="29405B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B823627-B89B-47C7-BEB2-6B412F071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21005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6FAFD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6FAFD"/>
                </a:solidFill>
                <a:latin typeface="Aptos"/>
                <a:ea typeface="Aptos"/>
                <a:cs typeface="Aptos"/>
              </a:rPr>
              <a:t>Semantics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7D51D6B-5DFB-4A67-B750-A0275B91A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4143375"/>
            <a:ext cx="2381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FF6B6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FF6B6B"/>
                </a:solidFill>
                <a:latin typeface="Aptos"/>
                <a:ea typeface="Aptos"/>
                <a:cs typeface="Aptos"/>
              </a:rPr>
              <a:t>JD embedding included the whole bundle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1A365D9-A9FB-42E3-8A02-549D88050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4143375"/>
            <a:ext cx="2381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35D0BA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35D0BA"/>
                </a:solidFill>
                <a:latin typeface="Aptos"/>
                <a:ea typeface="Aptos"/>
                <a:cs typeface="Aptos"/>
              </a:rPr>
              <a:t>Focused deterministic evidence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458305D-7785-4366-A5F7-103281C52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143375"/>
            <a:ext cx="3333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E9F0F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E9F0F7"/>
                </a:solidFill>
                <a:latin typeface="Aptos"/>
                <a:ea typeface="Aptos"/>
                <a:cs typeface="Aptos"/>
              </a:rPr>
              <a:t>Default no longer depends on ignored 154 MB artifact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4C7625D-3555-47A4-A439-87088462F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4857750"/>
            <a:ext cx="1114425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17263A"/>
          </a:solidFill>
          <a:ln xmlns:a="http://schemas.openxmlformats.org/drawingml/2006/main" w="9525">
            <a:solidFill>
              <a:srgbClr val="29405B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37E9C47-C671-49B2-9509-55C7F4FED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08635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6FAFD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6FAFD"/>
                </a:solidFill>
                <a:latin typeface="Aptos"/>
                <a:ea typeface="Aptos"/>
                <a:cs typeface="Aptos"/>
              </a:rPr>
              <a:t>Combination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61068DA-E456-4C27-8A6A-C62AE988A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5019675"/>
            <a:ext cx="2381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FF6B6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FF6B6B"/>
                </a:solidFill>
                <a:latin typeface="Aptos"/>
                <a:ea typeface="Aptos"/>
                <a:cs typeface="Aptos"/>
              </a:rPr>
              <a:t>Three linear strategies called an ensemble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3610715-D8A2-4A88-BEC6-262EE375E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5019675"/>
            <a:ext cx="2381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35D0BA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35D0BA"/>
                </a:solidFill>
                <a:latin typeface="Aptos"/>
                <a:ea typeface="Aptos"/>
                <a:cs typeface="Aptos"/>
              </a:rPr>
              <a:t>One calibrated weight vector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EBFA40C-0538-4034-BE20-2CF555209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5019675"/>
            <a:ext cx="3333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E9F0F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E9F0F7"/>
                </a:solidFill>
                <a:latin typeface="Aptos"/>
                <a:ea typeface="Aptos"/>
                <a:cs typeface="Aptos"/>
              </a:rPr>
              <a:t>Mathematically honest and easier to defend</a:t>
            </a:r>
          </a:p>
        </p:txBody>
      </p:sp>
    </p:spTree>
    <p:extLst>
      <p:ext uri="{BB962C8B-B14F-4D97-AF65-F5344CB8AC3E}">
        <p14:creationId xmlns:p14="http://schemas.microsoft.com/office/powerpoint/2010/main" val="97403477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8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D5716C4-7D70-4190-986E-27D5117DC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0050"/>
            <a:ext cx="4000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D0B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886BC22-D206-4C73-941D-588A6682E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048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35D0BA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35D0BA"/>
                </a:solidFill>
                <a:latin typeface="Aptos"/>
                <a:ea typeface="Aptos"/>
                <a:cs typeface="Aptos"/>
              </a:rPr>
              <a:t>ANTI-TRAP SYSTEM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44C75A7-1A4B-4AAC-98B8-FC9F27D2E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85800"/>
            <a:ext cx="10763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F6FAFD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F6FAFD"/>
                </a:solidFill>
                <a:latin typeface="Aptos Display"/>
                <a:ea typeface="Aptos Display"/>
                <a:cs typeface="Aptos Display"/>
              </a:rPr>
              <a:t>Three traps, three explicit defenses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5440954-7239-4FD5-B2FE-49F388D40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198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405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B47BEB8-F7B8-4419-B7E1-B484CC39E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93A4B8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93A4B8"/>
                </a:solidFill>
                <a:latin typeface="Aptos"/>
                <a:ea typeface="Aptos"/>
                <a:cs typeface="Aptos"/>
              </a:rPr>
              <a:t>Local code + official challenge bundle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3813128-CA4D-4713-8A66-732480248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35D0BA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35D0BA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5D31A57-013A-4396-996F-FD8DA901E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581150"/>
            <a:ext cx="3638550" cy="3886200"/>
          </a:xfrm>
          <a:prstGeom xmlns:a="http://schemas.openxmlformats.org/drawingml/2006/main" prst="roundRect">
            <a:avLst>
              <a:gd name="adj" fmla="val 2094"/>
            </a:avLst>
          </a:prstGeom>
          <a:solidFill xmlns:a="http://schemas.openxmlformats.org/drawingml/2006/main">
            <a:srgbClr val="111D2E"/>
          </a:solidFill>
          <a:ln xmlns:a="http://schemas.openxmlformats.org/drawingml/2006/main" w="9525">
            <a:solidFill>
              <a:srgbClr val="29405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FD23666-3D19-4B6A-86B6-9D2A8B5FD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581150"/>
            <a:ext cx="36385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B5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8E39707-979B-407B-B503-DF270CA81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66900"/>
            <a:ext cx="3143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B54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FB547"/>
                </a:solidFill>
                <a:latin typeface="Aptos"/>
                <a:ea typeface="Aptos"/>
                <a:cs typeface="Aptos"/>
              </a:rPr>
              <a:t>KEYWORD STUFFER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7C48617-DD5F-4B39-BD95-F26D26181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05050"/>
            <a:ext cx="3143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F6FAFD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F6FAFD"/>
                </a:solidFill>
                <a:latin typeface="Aptos"/>
                <a:ea typeface="Aptos"/>
                <a:cs typeface="Aptos"/>
              </a:rPr>
              <a:t>Perfect AI skills; career says marketing or unrelated work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043138C-651B-4D6C-A963-61AF41FD9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00400"/>
            <a:ext cx="3143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405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7ABA3F9-9D0E-4D20-BFC0-F863E5D22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09950"/>
            <a:ext cx="114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93A4B8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93A4B8"/>
                </a:solidFill>
                <a:latin typeface="Aptos"/>
                <a:ea typeface="Aptos"/>
                <a:cs typeface="Aptos"/>
              </a:rPr>
              <a:t>DEFENSE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FB9831D-7598-4AB6-83D9-53E422793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95700"/>
            <a:ext cx="3143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E9F0F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E9F0F7"/>
                </a:solidFill>
                <a:latin typeface="Aptos"/>
                <a:ea typeface="Aptos"/>
                <a:cs typeface="Aptos"/>
              </a:rPr>
              <a:t>Title-career fit + skill-career validation + stuffing penalty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79E1063-B780-4F3B-9163-2E2F75BDA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86300"/>
            <a:ext cx="14287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17263A"/>
          </a:solidFill>
          <a:ln xmlns:a="http://schemas.openxmlformats.org/drawingml/2006/main" w="9525">
            <a:solidFill>
              <a:srgbClr val="FFB547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4572459-B311-4A8A-91B2-BEADBDC8E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762500"/>
            <a:ext cx="120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FFB547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B547"/>
                </a:solidFill>
                <a:latin typeface="Aptos"/>
                <a:ea typeface="Aptos"/>
                <a:cs typeface="Aptos"/>
              </a:rPr>
              <a:t>DOWN-RANK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D043B9C-14D3-4FFE-BD12-ABA1F4D9B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1581150"/>
            <a:ext cx="3638550" cy="3886200"/>
          </a:xfrm>
          <a:prstGeom xmlns:a="http://schemas.openxmlformats.org/drawingml/2006/main" prst="roundRect">
            <a:avLst>
              <a:gd name="adj" fmla="val 2094"/>
            </a:avLst>
          </a:prstGeom>
          <a:solidFill xmlns:a="http://schemas.openxmlformats.org/drawingml/2006/main">
            <a:srgbClr val="111D2E"/>
          </a:solidFill>
          <a:ln xmlns:a="http://schemas.openxmlformats.org/drawingml/2006/main" w="9525">
            <a:solidFill>
              <a:srgbClr val="29405B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61611E6-8A7E-4800-A5C7-2CE754F66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1581150"/>
            <a:ext cx="36385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6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127A7DB-9EA3-4454-903F-4735CD83E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1866900"/>
            <a:ext cx="3143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6B6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F6B6B"/>
                </a:solidFill>
                <a:latin typeface="Aptos"/>
                <a:ea typeface="Aptos"/>
                <a:cs typeface="Aptos"/>
              </a:rPr>
              <a:t>IMPOSSIBLE PROFILE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E3D024B-BE7B-45D3-954A-3E50FEAA4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305050"/>
            <a:ext cx="3143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F6FAFD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F6FAFD"/>
                </a:solidFill>
                <a:latin typeface="Aptos"/>
                <a:ea typeface="Aptos"/>
                <a:cs typeface="Aptos"/>
              </a:rPr>
              <a:t>Experience, dates, or expert-skill durations contradict each other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4A5A340-A90F-428C-BF20-CD4D54C6B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3200400"/>
            <a:ext cx="3143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405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3046FE0-B425-445A-9C6F-7935C6E89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3409950"/>
            <a:ext cx="114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93A4B8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93A4B8"/>
                </a:solidFill>
                <a:latin typeface="Aptos"/>
                <a:ea typeface="Aptos"/>
                <a:cs typeface="Aptos"/>
              </a:rPr>
              <a:t>DEFENSE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E5B789D-2B6C-4126-B0C7-E539AE100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3695700"/>
            <a:ext cx="3143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E9F0F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E9F0F7"/>
                </a:solidFill>
                <a:latin typeface="Aptos"/>
                <a:ea typeface="Aptos"/>
                <a:cs typeface="Aptos"/>
              </a:rPr>
              <a:t>Cross-field integrity scorer; decisive contradictions only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D82579B-DE10-4392-8E8C-909E9B6D1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4686300"/>
            <a:ext cx="14287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17263A"/>
          </a:solidFill>
          <a:ln xmlns:a="http://schemas.openxmlformats.org/drawingml/2006/main" w="9525">
            <a:solidFill>
              <a:srgbClr val="FF6B6B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CCF6113-F6E8-4ABD-A16A-3ABDF4932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4762500"/>
            <a:ext cx="120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FF6B6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6B6B"/>
                </a:solidFill>
                <a:latin typeface="Aptos"/>
                <a:ea typeface="Aptos"/>
                <a:cs typeface="Aptos"/>
              </a:rPr>
              <a:t>REMOVE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7D24925-6012-4932-9BA0-E1ABF8206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1581150"/>
            <a:ext cx="3638550" cy="3886200"/>
          </a:xfrm>
          <a:prstGeom xmlns:a="http://schemas.openxmlformats.org/drawingml/2006/main" prst="roundRect">
            <a:avLst>
              <a:gd name="adj" fmla="val 2094"/>
            </a:avLst>
          </a:prstGeom>
          <a:solidFill xmlns:a="http://schemas.openxmlformats.org/drawingml/2006/main">
            <a:srgbClr val="111D2E"/>
          </a:solidFill>
          <a:ln xmlns:a="http://schemas.openxmlformats.org/drawingml/2006/main" w="9525">
            <a:solidFill>
              <a:srgbClr val="29405B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185A9F7-8500-48F0-81F3-8014C17D9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1581150"/>
            <a:ext cx="36385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D0B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2A0FE55-FAE7-4365-8F13-283BCE944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1866900"/>
            <a:ext cx="3143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35D0B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35D0BA"/>
                </a:solidFill>
                <a:latin typeface="Aptos"/>
                <a:ea typeface="Aptos"/>
                <a:cs typeface="Aptos"/>
              </a:rPr>
              <a:t>UNREACHABLE STAR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520E733-CAF3-4BFA-9244-E84374292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305050"/>
            <a:ext cx="3143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F6FAFD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F6FAFD"/>
                </a:solidFill>
                <a:latin typeface="Aptos"/>
                <a:ea typeface="Aptos"/>
                <a:cs typeface="Aptos"/>
              </a:rPr>
              <a:t>Excellent retrieval background; 5% response rate and stale activity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A6188F8-7B70-4EFE-926D-E46640C2D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200400"/>
            <a:ext cx="3143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405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A0D03F2-D1E5-4A45-AF28-56037DE77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409950"/>
            <a:ext cx="114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93A4B8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93A4B8"/>
                </a:solidFill>
                <a:latin typeface="Aptos"/>
                <a:ea typeface="Aptos"/>
                <a:cs typeface="Aptos"/>
              </a:rPr>
              <a:t>DEFENSE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964E4CD-6F39-49FA-969B-6A3CB2BDF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695700"/>
            <a:ext cx="3143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E9F0F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E9F0F7"/>
                </a:solidFill>
                <a:latin typeface="Aptos"/>
                <a:ea typeface="Aptos"/>
                <a:cs typeface="Aptos"/>
              </a:rPr>
              <a:t>Weighted availability score + explicit unreachable gate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769AE2C-0338-4E34-9221-DFC503259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4686300"/>
            <a:ext cx="14287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17263A"/>
          </a:solidFill>
          <a:ln xmlns:a="http://schemas.openxmlformats.org/drawingml/2006/main" w="9525">
            <a:solidFill>
              <a:srgbClr val="35D0BA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473315E-E9EC-4B93-AD7D-B1431891A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4762500"/>
            <a:ext cx="120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35D0B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35D0BA"/>
                </a:solidFill>
                <a:latin typeface="Aptos"/>
                <a:ea typeface="Aptos"/>
                <a:cs typeface="Aptos"/>
              </a:rPr>
              <a:t>DOWN-WEIGHT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20B01CC-2313-4997-91A6-661DE4FF4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734050"/>
            <a:ext cx="10668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35D0B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5D0BA"/>
                </a:solidFill>
                <a:latin typeface="Aptos"/>
                <a:ea typeface="Aptos"/>
                <a:cs typeface="Aptos"/>
              </a:rPr>
              <a:t>Result: zero detected honeypots and zero very-low-availability profiles in the submitted top 100.</a:t>
            </a:r>
          </a:p>
        </p:txBody>
      </p:sp>
    </p:spTree>
    <p:extLst>
      <p:ext uri="{BB962C8B-B14F-4D97-AF65-F5344CB8AC3E}">
        <p14:creationId xmlns:p14="http://schemas.microsoft.com/office/powerpoint/2010/main" val="101019650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8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574B7E9-72BD-43C9-8EEF-EC0360DCD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0050"/>
            <a:ext cx="4000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D0B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35B7361-7CEA-41C8-B266-AB8ABE7CD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048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35D0BA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35D0BA"/>
                </a:solidFill>
                <a:latin typeface="Aptos"/>
                <a:ea typeface="Aptos"/>
                <a:cs typeface="Aptos"/>
              </a:rPr>
              <a:t>MEASURED RESULTS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AC1499B-B7E0-43A0-9C80-A2C1F7CD4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85800"/>
            <a:ext cx="10763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F6FAFD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F6FAFD"/>
                </a:solidFill>
                <a:latin typeface="Aptos Display"/>
                <a:ea typeface="Aptos Display"/>
                <a:cs typeface="Aptos Display"/>
              </a:rPr>
              <a:t>The full-pool run stays fast and the shortlist stays clean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D193AC8-7139-4B57-96D1-C154CE0A5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198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405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E07AAB4-E6FD-4C27-8CE2-54E32E62B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93A4B8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93A4B8"/>
                </a:solidFill>
                <a:latin typeface="Aptos"/>
                <a:ea typeface="Aptos"/>
                <a:cs typeface="Aptos"/>
              </a:rPr>
              <a:t>Local code + official challenge bundle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06F9F6F-18F1-4759-B762-1B0D371EF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35D0BA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35D0BA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5CEEE25-D12B-4DCC-94E0-43D9D57AB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66850"/>
            <a:ext cx="2381250" cy="1162050"/>
          </a:xfrm>
          <a:prstGeom xmlns:a="http://schemas.openxmlformats.org/drawingml/2006/main" prst="roundRect">
            <a:avLst>
              <a:gd name="adj" fmla="val 6557"/>
            </a:avLst>
          </a:prstGeom>
          <a:solidFill xmlns:a="http://schemas.openxmlformats.org/drawingml/2006/main">
            <a:srgbClr val="111D2E"/>
          </a:solidFill>
          <a:ln xmlns:a="http://schemas.openxmlformats.org/drawingml/2006/main" w="9525">
            <a:solidFill>
              <a:srgbClr val="29405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441C478-DBDA-40F7-A91B-2CA6F02AC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638300"/>
            <a:ext cx="20383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F6FAFD"/>
                </a:solidFill>
                <a:latin typeface="Aptos"/>
                <a:ea typeface="Aptos"/>
                <a:cs typeface="Aptos"/>
              </a:defRPr>
            </a:pPr>
            <a:r>
              <a:rPr sz="3150" b="1">
                <a:solidFill>
                  <a:srgbClr val="F6FAFD"/>
                </a:solidFill>
                <a:latin typeface="Aptos"/>
                <a:ea typeface="Aptos"/>
                <a:cs typeface="Aptos"/>
              </a:rPr>
              <a:t>100,000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D7B2037-AC06-4B30-ADE7-8161A58CA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09800"/>
            <a:ext cx="2038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93A4B8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93A4B8"/>
                </a:solidFill>
                <a:latin typeface="Aptos"/>
                <a:ea typeface="Aptos"/>
                <a:cs typeface="Aptos"/>
              </a:rPr>
              <a:t>profiles ranked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0DD23EE-F1F7-43F0-B3FF-A6B085E86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1466850"/>
            <a:ext cx="2381250" cy="1162050"/>
          </a:xfrm>
          <a:prstGeom xmlns:a="http://schemas.openxmlformats.org/drawingml/2006/main" prst="roundRect">
            <a:avLst>
              <a:gd name="adj" fmla="val 6557"/>
            </a:avLst>
          </a:prstGeom>
          <a:solidFill xmlns:a="http://schemas.openxmlformats.org/drawingml/2006/main">
            <a:srgbClr val="111D2E"/>
          </a:solidFill>
          <a:ln xmlns:a="http://schemas.openxmlformats.org/drawingml/2006/main" w="9525">
            <a:solidFill>
              <a:srgbClr val="29405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F94757A-5745-495F-860E-264201BC6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1638300"/>
            <a:ext cx="20383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35D0BA"/>
                </a:solidFill>
                <a:latin typeface="Aptos"/>
                <a:ea typeface="Aptos"/>
                <a:cs typeface="Aptos"/>
              </a:defRPr>
            </a:pPr>
            <a:r>
              <a:rPr sz="3150" b="1">
                <a:solidFill>
                  <a:srgbClr val="35D0BA"/>
                </a:solidFill>
                <a:latin typeface="Aptos"/>
                <a:ea typeface="Aptos"/>
                <a:cs typeface="Aptos"/>
              </a:rPr>
              <a:t>84.6s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02BCFF5-A112-43DD-ABB3-BCA21555E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2209800"/>
            <a:ext cx="2038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93A4B8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93A4B8"/>
                </a:solidFill>
                <a:latin typeface="Aptos"/>
                <a:ea typeface="Aptos"/>
                <a:cs typeface="Aptos"/>
              </a:rPr>
              <a:t>end-to-end CPU time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07554A6-C566-4E2E-897C-7D5A3AD33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1466850"/>
            <a:ext cx="2381250" cy="1162050"/>
          </a:xfrm>
          <a:prstGeom xmlns:a="http://schemas.openxmlformats.org/drawingml/2006/main" prst="roundRect">
            <a:avLst>
              <a:gd name="adj" fmla="val 6557"/>
            </a:avLst>
          </a:prstGeom>
          <a:solidFill xmlns:a="http://schemas.openxmlformats.org/drawingml/2006/main">
            <a:srgbClr val="111D2E"/>
          </a:solidFill>
          <a:ln xmlns:a="http://schemas.openxmlformats.org/drawingml/2006/main" w="9525">
            <a:solidFill>
              <a:srgbClr val="29405B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E4A20B1-601D-4C94-8127-DD763E6F1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1638300"/>
            <a:ext cx="20383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FFB547"/>
                </a:solidFill>
                <a:latin typeface="Aptos"/>
                <a:ea typeface="Aptos"/>
                <a:cs typeface="Aptos"/>
              </a:defRPr>
            </a:pPr>
            <a:r>
              <a:rPr sz="3150" b="1">
                <a:solidFill>
                  <a:srgbClr val="FFB547"/>
                </a:solidFill>
                <a:latin typeface="Aptos"/>
                <a:ea typeface="Aptos"/>
                <a:cs typeface="Aptos"/>
              </a:rPr>
              <a:t>57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833CDE3-C6FE-4AA2-8527-DEA07225C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209800"/>
            <a:ext cx="2038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93A4B8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93A4B8"/>
                </a:solidFill>
                <a:latin typeface="Aptos"/>
                <a:ea typeface="Aptos"/>
                <a:cs typeface="Aptos"/>
              </a:rPr>
              <a:t>decisive contradictions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D11EEB5-4670-47B7-9A24-1775C28D8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466850"/>
            <a:ext cx="2857500" cy="1162050"/>
          </a:xfrm>
          <a:prstGeom xmlns:a="http://schemas.openxmlformats.org/drawingml/2006/main" prst="roundRect">
            <a:avLst>
              <a:gd name="adj" fmla="val 6557"/>
            </a:avLst>
          </a:prstGeom>
          <a:solidFill xmlns:a="http://schemas.openxmlformats.org/drawingml/2006/main">
            <a:srgbClr val="111D2E"/>
          </a:solidFill>
          <a:ln xmlns:a="http://schemas.openxmlformats.org/drawingml/2006/main" w="9525">
            <a:solidFill>
              <a:srgbClr val="29405B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95432C8-FCE5-402B-A150-8C2C3DDC3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1638300"/>
            <a:ext cx="25146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7E9BEF"/>
                </a:solidFill>
                <a:latin typeface="Aptos"/>
                <a:ea typeface="Aptos"/>
                <a:cs typeface="Aptos"/>
              </a:defRPr>
            </a:pPr>
            <a:r>
              <a:rPr sz="3150" b="1">
                <a:solidFill>
                  <a:srgbClr val="7E9BEF"/>
                </a:solidFill>
                <a:latin typeface="Aptos"/>
                <a:ea typeface="Aptos"/>
                <a:cs typeface="Aptos"/>
              </a:rPr>
              <a:t>100/100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B31F44E-071D-4B69-9DD3-43AE6B023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209800"/>
            <a:ext cx="2514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93A4B8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93A4B8"/>
                </a:solidFill>
                <a:latin typeface="Aptos"/>
                <a:ea typeface="Aptos"/>
                <a:cs typeface="Aptos"/>
              </a:rPr>
              <a:t>unique reasonings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CC27D4F-869D-4825-A876-D1CC14AFB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990850"/>
            <a:ext cx="5219700" cy="2724150"/>
          </a:xfrm>
          <a:prstGeom xmlns:a="http://schemas.openxmlformats.org/drawingml/2006/main" prst="roundRect">
            <a:avLst>
              <a:gd name="adj" fmla="val 2797"/>
            </a:avLst>
          </a:prstGeom>
          <a:solidFill xmlns:a="http://schemas.openxmlformats.org/drawingml/2006/main">
            <a:srgbClr val="111D2E"/>
          </a:solidFill>
          <a:ln xmlns:a="http://schemas.openxmlformats.org/drawingml/2006/main" w="9525">
            <a:solidFill>
              <a:srgbClr val="29405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939CDEC-3070-460E-AD9E-E106D7248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19450"/>
            <a:ext cx="238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35D0B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35D0BA"/>
                </a:solidFill>
                <a:latin typeface="Aptos"/>
                <a:ea typeface="Aptos"/>
                <a:cs typeface="Aptos"/>
              </a:rPr>
              <a:t>RUNTIME BREAKDOWN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FAFA22E-FAFB-4F17-BB39-FBE594269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76650"/>
            <a:ext cx="142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E9F0F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E9F0F7"/>
                </a:solidFill>
                <a:latin typeface="Aptos"/>
                <a:ea typeface="Aptos"/>
                <a:cs typeface="Aptos"/>
              </a:rPr>
              <a:t>Load candidates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342EA39-4022-4EA3-B4FF-8947E5758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3695700"/>
            <a:ext cx="2762250" cy="171450"/>
          </a:xfrm>
          <a:prstGeom xmlns:a="http://schemas.openxmlformats.org/drawingml/2006/main" prst="roundRect">
            <a:avLst>
              <a:gd name="adj" fmla="val 44444"/>
            </a:avLst>
          </a:prstGeom>
          <a:solidFill xmlns:a="http://schemas.openxmlformats.org/drawingml/2006/main">
            <a:srgbClr val="1726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C74E2B5-9D2C-4D47-B6A4-CC57701E7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3695700"/>
            <a:ext cx="300134" cy="171450"/>
          </a:xfrm>
          <a:prstGeom xmlns:a="http://schemas.openxmlformats.org/drawingml/2006/main" prst="roundRect">
            <a:avLst>
              <a:gd name="adj" fmla="val 44444"/>
            </a:avLst>
          </a:prstGeom>
          <a:solidFill xmlns:a="http://schemas.openxmlformats.org/drawingml/2006/main">
            <a:srgbClr val="FFB5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6F73FCF-B978-4EB1-BB9E-E4CA5E2D8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36576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FFB547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FB547"/>
                </a:solidFill>
                <a:latin typeface="Aptos"/>
                <a:ea typeface="Aptos"/>
                <a:cs typeface="Aptos"/>
              </a:rPr>
              <a:t>9.0s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56F749A-FFAD-4108-90D5-20E42DA50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29100"/>
            <a:ext cx="142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E9F0F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E9F0F7"/>
                </a:solidFill>
                <a:latin typeface="Aptos"/>
                <a:ea typeface="Aptos"/>
                <a:cs typeface="Aptos"/>
              </a:rPr>
              <a:t>Score + rank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07BA684-CC6C-45D5-AB6A-419EE37A3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248150"/>
            <a:ext cx="2762250" cy="171450"/>
          </a:xfrm>
          <a:prstGeom xmlns:a="http://schemas.openxmlformats.org/drawingml/2006/main" prst="roundRect">
            <a:avLst>
              <a:gd name="adj" fmla="val 44444"/>
            </a:avLst>
          </a:prstGeom>
          <a:solidFill xmlns:a="http://schemas.openxmlformats.org/drawingml/2006/main">
            <a:srgbClr val="1726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611AEE4-F954-4266-9C28-0F362C92D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248150"/>
            <a:ext cx="2423963" cy="171450"/>
          </a:xfrm>
          <a:prstGeom xmlns:a="http://schemas.openxmlformats.org/drawingml/2006/main" prst="roundRect">
            <a:avLst>
              <a:gd name="adj" fmla="val 44444"/>
            </a:avLst>
          </a:prstGeom>
          <a:solidFill xmlns:a="http://schemas.openxmlformats.org/drawingml/2006/main">
            <a:srgbClr val="35D0B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25FBE51-027D-46E9-852B-6C6C86A3F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42100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35D0BA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35D0BA"/>
                </a:solidFill>
                <a:latin typeface="Aptos"/>
                <a:ea typeface="Aptos"/>
                <a:cs typeface="Aptos"/>
              </a:rPr>
              <a:t>74.7s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0BA5C33-A7AD-4B94-86E5-D9A800EB9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149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93A4B8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93A4B8"/>
                </a:solidFill>
                <a:latin typeface="Aptos"/>
                <a:ea typeface="Aptos"/>
                <a:cs typeface="Aptos"/>
              </a:rPr>
              <a:t>Budget used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456A65D-8568-4B81-BE25-115A66B3B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838700"/>
            <a:ext cx="1714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F6FAFD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F6FAFD"/>
                </a:solidFill>
                <a:latin typeface="Aptos"/>
                <a:ea typeface="Aptos"/>
                <a:cs typeface="Aptos"/>
              </a:rPr>
              <a:t>28%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712339D-AB9A-4155-9613-835159658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933950"/>
            <a:ext cx="1714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93A4B8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93A4B8"/>
                </a:solidFill>
                <a:latin typeface="Aptos"/>
                <a:ea typeface="Aptos"/>
                <a:cs typeface="Aptos"/>
              </a:rPr>
              <a:t>of 5-minute limit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89F6797-E56E-455D-B1B0-E87CAB43C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990850"/>
            <a:ext cx="5600700" cy="2724150"/>
          </a:xfrm>
          <a:prstGeom xmlns:a="http://schemas.openxmlformats.org/drawingml/2006/main" prst="roundRect">
            <a:avLst>
              <a:gd name="adj" fmla="val 2797"/>
            </a:avLst>
          </a:prstGeom>
          <a:solidFill xmlns:a="http://schemas.openxmlformats.org/drawingml/2006/main">
            <a:srgbClr val="111D2E"/>
          </a:solidFill>
          <a:ln xmlns:a="http://schemas.openxmlformats.org/drawingml/2006/main" w="9525">
            <a:solidFill>
              <a:srgbClr val="29405B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4694562-FC90-4475-9474-FBEDECC80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219450"/>
            <a:ext cx="238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35D0B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35D0BA"/>
                </a:solidFill>
                <a:latin typeface="Aptos"/>
                <a:ea typeface="Aptos"/>
                <a:cs typeface="Aptos"/>
              </a:rPr>
              <a:t>SHORTLIST AUDIT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0E10681-5BF9-42A9-8516-0765BB65A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638550"/>
            <a:ext cx="304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E9F0F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E9F0F7"/>
                </a:solidFill>
                <a:latin typeface="Aptos"/>
                <a:ea typeface="Aptos"/>
                <a:cs typeface="Aptos"/>
              </a:rPr>
              <a:t>Top 10 exact-match tier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C901AAF-5F79-470B-951D-0F6C7A4D7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609975"/>
            <a:ext cx="161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500" b="1">
                <a:solidFill>
                  <a:srgbClr val="FFB547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FB547"/>
                </a:solidFill>
                <a:latin typeface="Aptos"/>
                <a:ea typeface="Aptos"/>
                <a:cs typeface="Aptos"/>
              </a:rPr>
              <a:t>10 / 10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300B81F-9A88-4896-B4FF-8840110F9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095750"/>
            <a:ext cx="304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E9F0F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E9F0F7"/>
                </a:solidFill>
                <a:latin typeface="Aptos"/>
                <a:ea typeface="Aptos"/>
                <a:cs typeface="Aptos"/>
              </a:rPr>
              <a:t>Top 50 tier 5 + tier 4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F09BF05-405D-4781-A838-CA420F6CB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4067175"/>
            <a:ext cx="161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500" b="1">
                <a:solidFill>
                  <a:srgbClr val="35D0BA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35D0BA"/>
                </a:solidFill>
                <a:latin typeface="Aptos"/>
                <a:ea typeface="Aptos"/>
                <a:cs typeface="Aptos"/>
              </a:rPr>
              <a:t>13 + 37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1F7AA3A-7AD8-40E8-B22B-B9DEE88A1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552950"/>
            <a:ext cx="304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E9F0F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E9F0F7"/>
                </a:solidFill>
                <a:latin typeface="Aptos"/>
                <a:ea typeface="Aptos"/>
                <a:cs typeface="Aptos"/>
              </a:rPr>
              <a:t>Top 100 tier 5 + tier 4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F56468D-50A5-426C-B79E-BEDCF21DC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4524375"/>
            <a:ext cx="161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500" b="1">
                <a:solidFill>
                  <a:srgbClr val="7E9BE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7E9BEF"/>
                </a:solidFill>
                <a:latin typeface="Aptos"/>
                <a:ea typeface="Aptos"/>
                <a:cs typeface="Aptos"/>
              </a:rPr>
              <a:t>13 + 87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46CD317-ABB8-493B-B5AE-F8A5FE980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010150"/>
            <a:ext cx="304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E9F0F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E9F0F7"/>
                </a:solidFill>
                <a:latin typeface="Aptos"/>
                <a:ea typeface="Aptos"/>
                <a:cs typeface="Aptos"/>
              </a:rPr>
              <a:t>Honeypots / unavailable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908245A1-B0F6-40C6-A462-46D3F7333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4981575"/>
            <a:ext cx="161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500" b="1">
                <a:solidFill>
                  <a:srgbClr val="35D0BA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35D0BA"/>
                </a:solidFill>
                <a:latin typeface="Aptos"/>
                <a:ea typeface="Aptos"/>
                <a:cs typeface="Aptos"/>
              </a:rPr>
              <a:t>0 / 0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6E80A39-3F4C-48A2-B95D-E9F30B00C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600450"/>
            <a:ext cx="5143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D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7CF220C-A69C-4E21-A3C7-7BE2B8EA8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686175"/>
            <a:ext cx="495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FFB547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B547"/>
                </a:solidFill>
                <a:latin typeface="Aptos"/>
                <a:ea typeface="Aptos"/>
                <a:cs typeface="Aptos"/>
              </a:rPr>
              <a:t>9.0s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3977941D-0F5E-4C80-A9AD-728082BA6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4152900"/>
            <a:ext cx="5143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D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C63E0717-CCE2-4017-B61A-AFC77FB82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4238625"/>
            <a:ext cx="495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35D0B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35D0BA"/>
                </a:solidFill>
                <a:latin typeface="Aptos"/>
                <a:ea typeface="Aptos"/>
                <a:cs typeface="Aptos"/>
              </a:rPr>
              <a:t>74.7s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1267F777-751B-4DFC-AD46-F4EB8860C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3581400"/>
            <a:ext cx="5905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D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4A623CD4-4E77-4FA8-B5D0-FD6D2D82D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3714750"/>
            <a:ext cx="533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B547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FFB547"/>
                </a:solidFill>
                <a:latin typeface="Aptos"/>
                <a:ea typeface="Aptos"/>
                <a:cs typeface="Aptos"/>
              </a:rPr>
              <a:t>9.0s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5A7C7033-5354-4799-BD29-5EAE2505E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4133850"/>
            <a:ext cx="5905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D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D0CA0875-D513-4A9D-8E5C-B39202723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4267200"/>
            <a:ext cx="533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35D0BA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35D0BA"/>
                </a:solidFill>
                <a:latin typeface="Aptos"/>
                <a:ea typeface="Aptos"/>
                <a:cs typeface="Aptos"/>
              </a:rPr>
              <a:t>74.7s</a:t>
            </a:r>
          </a:p>
        </p:txBody>
      </p:sp>
    </p:spTree>
    <p:extLst>
      <p:ext uri="{BB962C8B-B14F-4D97-AF65-F5344CB8AC3E}">
        <p14:creationId xmlns:p14="http://schemas.microsoft.com/office/powerpoint/2010/main" val="125077237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8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7EBD66A-FD12-4C64-878D-7A914E56F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0050"/>
            <a:ext cx="4000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D0B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0559121-3888-49F1-AA04-94DC92D3B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048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35D0BA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35D0BA"/>
                </a:solidFill>
                <a:latin typeface="Aptos"/>
                <a:ea typeface="Aptos"/>
                <a:cs typeface="Aptos"/>
              </a:rPr>
              <a:t>SUBMISSION READINESS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4DE18A7-E214-487B-815F-FE5FF1087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85800"/>
            <a:ext cx="10763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F6FAFD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F6FAFD"/>
                </a:solidFill>
                <a:latin typeface="Aptos Display"/>
                <a:ea typeface="Aptos Display"/>
                <a:cs typeface="Aptos Display"/>
              </a:rPr>
              <a:t>Built to survive every evaluation stage, not just scoring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956FE19-3C7E-4290-92F1-5510B7621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198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405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9310496-A8BC-44A1-BE4B-5813AB938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93A4B8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93A4B8"/>
                </a:solidFill>
                <a:latin typeface="Aptos"/>
                <a:ea typeface="Aptos"/>
                <a:cs typeface="Aptos"/>
              </a:rPr>
              <a:t>Local code + official challenge bundle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2105673-1F97-42D5-8CF2-EFF8A2498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35D0BA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35D0BA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C9D69EE-9069-472F-BB8D-FBBF2F017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2875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5D0BA"/>
          </a:solidFill>
          <a:ln xmlns:a="http://schemas.openxmlformats.org/drawingml/2006/main" w="9525">
            <a:solidFill>
              <a:srgbClr val="35D0B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B1513CA-9C24-411B-ACBD-DA3878CD7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43050"/>
            <a:ext cx="247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08111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8111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96C78C6-EE02-4A8C-B19C-2261CF7EE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1466850"/>
            <a:ext cx="142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35D0B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35D0BA"/>
                </a:solidFill>
                <a:latin typeface="Aptos"/>
                <a:ea typeface="Aptos"/>
                <a:cs typeface="Aptos"/>
              </a:rPr>
              <a:t>FORMAT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D09DF3F-5126-45D3-92A5-D7FE2636E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1695450"/>
            <a:ext cx="590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E9F0F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9F0F7"/>
                </a:solidFill>
                <a:latin typeface="Aptos"/>
                <a:ea typeface="Aptos"/>
                <a:cs typeface="Aptos"/>
              </a:rPr>
              <a:t>Official validator passes; exactly 100 ranked rows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CB780CF-7E04-4290-9EF0-6DD48DB77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B547"/>
          </a:solidFill>
          <a:ln xmlns:a="http://schemas.openxmlformats.org/drawingml/2006/main" w="9525">
            <a:solidFill>
              <a:srgbClr val="FFB547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4667841-3659-4D37-B278-0C941240B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62200"/>
            <a:ext cx="247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08111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8111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DEFF806-60A5-41D9-9EC1-8E69CEB81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286000"/>
            <a:ext cx="142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FFB547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B547"/>
                </a:solidFill>
                <a:latin typeface="Aptos"/>
                <a:ea typeface="Aptos"/>
                <a:cs typeface="Aptos"/>
              </a:rPr>
              <a:t>SCORE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E6CF8FC-0D88-4858-9BF5-D9D5C9B45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514600"/>
            <a:ext cx="590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E9F0F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9F0F7"/>
                </a:solidFill>
                <a:latin typeface="Aptos"/>
                <a:ea typeface="Aptos"/>
                <a:cs typeface="Aptos"/>
              </a:rPr>
              <a:t>Top-10-first ranking with exact-match prior and evidence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F8CA402-3CAE-4046-861C-116BB0CA0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6705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E9BEF"/>
          </a:solidFill>
          <a:ln xmlns:a="http://schemas.openxmlformats.org/drawingml/2006/main" w="9525">
            <a:solidFill>
              <a:srgbClr val="7E9BE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7AD37B0-33AB-4422-9C4F-952096BCC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81350"/>
            <a:ext cx="247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08111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8111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CDF6D7B-6840-4B40-8300-2E512DBA0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105150"/>
            <a:ext cx="142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7E9BE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7E9BEF"/>
                </a:solidFill>
                <a:latin typeface="Aptos"/>
                <a:ea typeface="Aptos"/>
                <a:cs typeface="Aptos"/>
              </a:rPr>
              <a:t>REPRODUCE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C7E0ABC-0DD8-4C1A-826F-A084BEF3A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333750"/>
            <a:ext cx="590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E9F0F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E9F0F7"/>
                </a:solidFill>
                <a:latin typeface="Aptos"/>
                <a:ea typeface="Aptos"/>
                <a:cs typeface="Aptos"/>
              </a:rPr>
              <a:t>84.6s CPU-only; no network; Docker + one command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4FE7234-B3A8-4894-8720-D24E50865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862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37EF0"/>
          </a:solidFill>
          <a:ln xmlns:a="http://schemas.openxmlformats.org/drawingml/2006/main" w="9525">
            <a:solidFill>
              <a:srgbClr val="D37EF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E30E790-1869-4B33-B065-E468F8476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0"/>
            <a:ext cx="247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08111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8111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6864964-23E1-46E7-9E32-DD1BBF03E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924300"/>
            <a:ext cx="142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D37EF0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D37EF0"/>
                </a:solidFill>
                <a:latin typeface="Aptos"/>
                <a:ea typeface="Aptos"/>
                <a:cs typeface="Aptos"/>
              </a:rPr>
              <a:t>MANUAL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F75B097-DC32-4948-926A-8E4B97D0E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152900"/>
            <a:ext cx="590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E9F0F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9F0F7"/>
                </a:solidFill>
                <a:latin typeface="Aptos"/>
                <a:ea typeface="Aptos"/>
                <a:cs typeface="Aptos"/>
              </a:rPr>
              <a:t>100 unique, candidate-grounded reasons; honest trade-offs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E9D7E52-6D1C-406C-9329-6352571AF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70535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5D0BA"/>
          </a:solidFill>
          <a:ln xmlns:a="http://schemas.openxmlformats.org/drawingml/2006/main" w="9525">
            <a:solidFill>
              <a:srgbClr val="35D0BA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68D50F8-8F27-4193-86DC-0A5E004E3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19650"/>
            <a:ext cx="247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08111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8111F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9CE6F5B-299A-4D15-9ADC-E933BE08D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743450"/>
            <a:ext cx="142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35D0B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35D0BA"/>
                </a:solidFill>
                <a:latin typeface="Aptos"/>
                <a:ea typeface="Aptos"/>
                <a:cs typeface="Aptos"/>
              </a:rPr>
              <a:t>DEFEND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F31941F-0D4B-4498-B83F-0A4ADD19C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972050"/>
            <a:ext cx="590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E9F0F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9F0F7"/>
                </a:solidFill>
                <a:latin typeface="Aptos"/>
                <a:ea typeface="Aptos"/>
                <a:cs typeface="Aptos"/>
              </a:rPr>
              <a:t>One calibrated score; explicit gates; documented limitations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38ADA06-3F34-46DC-A99C-383F4F462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1466850"/>
            <a:ext cx="3905250" cy="3886200"/>
          </a:xfrm>
          <a:prstGeom xmlns:a="http://schemas.openxmlformats.org/drawingml/2006/main" prst="roundRect">
            <a:avLst>
              <a:gd name="adj" fmla="val 1961"/>
            </a:avLst>
          </a:prstGeom>
          <a:solidFill xmlns:a="http://schemas.openxmlformats.org/drawingml/2006/main">
            <a:srgbClr val="17263A"/>
          </a:solidFill>
          <a:ln xmlns:a="http://schemas.openxmlformats.org/drawingml/2006/main" w="9525">
            <a:solidFill>
              <a:srgbClr val="35D0BA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1327312-6015-46DE-9B48-4914FAEBD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752600"/>
            <a:ext cx="314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FFB547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B547"/>
                </a:solidFill>
                <a:latin typeface="Aptos"/>
                <a:ea typeface="Aptos"/>
                <a:cs typeface="Aptos"/>
              </a:rPr>
              <a:t>HONEST LIMITATION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AB56678-8F34-4848-BC06-0C49F975F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52650"/>
            <a:ext cx="3143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F6FAFD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F6FAFD"/>
                </a:solidFill>
                <a:latin typeface="Aptos Display"/>
                <a:ea typeface="Aptos Display"/>
                <a:cs typeface="Aptos Display"/>
              </a:rPr>
              <a:t>No public labels means no one can know the hidden score before judging.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35D28DD-0453-4A2C-9EAB-9AC0AF49E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276600"/>
            <a:ext cx="31432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E9F0F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9F0F7"/>
                </a:solidFill>
                <a:latin typeface="Aptos"/>
                <a:ea typeface="Aptos"/>
                <a:cs typeface="Aptos"/>
              </a:rPr>
              <a:t>Our response is disciplined inference: challenge-specific priors, measurable audits, deterministic reproduction, and clear reasoning.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36229B5-1733-46DD-A7B0-E79FD926F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648200"/>
            <a:ext cx="304800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35D0BA"/>
          </a:solidFill>
          <a:ln xmlns:a="http://schemas.openxmlformats.org/drawingml/2006/main" w="9525">
            <a:solidFill>
              <a:srgbClr val="35D0BA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6728299-65D4-47B8-9D69-60D609B38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47625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08111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8111F"/>
                </a:solidFill>
                <a:latin typeface="Aptos"/>
                <a:ea typeface="Aptos"/>
                <a:cs typeface="Aptos"/>
              </a:rPr>
              <a:t>READY TO SUBMIT. READY TO EXPLAIN.</a:t>
            </a:r>
          </a:p>
        </p:txBody>
      </p:sp>
    </p:spTree>
    <p:extLst>
      <p:ext uri="{BB962C8B-B14F-4D97-AF65-F5344CB8AC3E}">
        <p14:creationId xmlns:p14="http://schemas.microsoft.com/office/powerpoint/2010/main" val="2814897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2026-06-15T18:51:41.4940000Z</dcterms:created>
  <dcterms:modified xsi:type="dcterms:W3CDTF">2026-06-15T18:51:41.4940000Z</dcterms:modified>
</coreProperties>
</file>