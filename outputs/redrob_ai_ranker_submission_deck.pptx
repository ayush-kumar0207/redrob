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2a0b27964cc4d7e" /><Relationship Type="http://schemas.openxmlformats.org/officeDocument/2006/relationships/extended-properties" Target="/docProps/app.xml" Id="Rd91ae9aa59de4ef1" /><Relationship Type="http://schemas.openxmlformats.org/officeDocument/2006/relationships/officeDocument" Target="/ppt/presentation.xml" Id="R6dd1abcc1cce4a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b55dc166e84f15"/>
  </p:sldMasterIdLst>
  <p:notesMasterIdLst>
    <p:notesMasterId xmlns:r="http://schemas.openxmlformats.org/officeDocument/2006/relationships" r:id="R79a2274e33764882"/>
  </p:notesMasterIdLst>
  <p:sldIdLst>
    <p:sldId xmlns:r="http://schemas.openxmlformats.org/officeDocument/2006/relationships" id="256" r:id="Ra51c653029d848bc"/>
    <p:sldId xmlns:r="http://schemas.openxmlformats.org/officeDocument/2006/relationships" id="257" r:id="R4f69eae7d01a4101"/>
    <p:sldId xmlns:r="http://schemas.openxmlformats.org/officeDocument/2006/relationships" id="258" r:id="Rbe38d9d76ad34281"/>
    <p:sldId xmlns:r="http://schemas.openxmlformats.org/officeDocument/2006/relationships" id="259" r:id="R5cf0abe0d55a45bb"/>
    <p:sldId xmlns:r="http://schemas.openxmlformats.org/officeDocument/2006/relationships" id="260" r:id="Ref596cfcab4b447a"/>
    <p:sldId xmlns:r="http://schemas.openxmlformats.org/officeDocument/2006/relationships" id="261" r:id="R5009bde4797149ca"/>
    <p:sldId xmlns:r="http://schemas.openxmlformats.org/officeDocument/2006/relationships" id="262" r:id="R7914cd640acb43f4"/>
    <p:sldId xmlns:r="http://schemas.openxmlformats.org/officeDocument/2006/relationships" id="263" r:id="Rf7fc062af2d949d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6334eb90554443" /><Relationship Type="http://schemas.openxmlformats.org/officeDocument/2006/relationships/slideMaster" Target="/ppt/slideMasters/slideMaster1.xml" Id="Re4b55dc166e84f15" /><Relationship Type="http://schemas.openxmlformats.org/officeDocument/2006/relationships/notesMaster" Target="/ppt/notesMasters/notesMaster1.xml" Id="R79a2274e33764882" /><Relationship Type="http://schemas.openxmlformats.org/officeDocument/2006/relationships/presProps" Target="/ppt/presProps.xml" Id="R0b0cb52a574446cd" /><Relationship Type="http://schemas.openxmlformats.org/officeDocument/2006/relationships/tableStyles" Target="/ppt/tableStyles.xml" Id="R670691868f40481c" /><Relationship Type="http://schemas.openxmlformats.org/officeDocument/2006/relationships/slide" Target="/ppt/slides/slide1.xml" Id="Ra51c653029d848bc" /><Relationship Type="http://schemas.openxmlformats.org/officeDocument/2006/relationships/slide" Target="/ppt/slides/slide2.xml" Id="R4f69eae7d01a4101" /><Relationship Type="http://schemas.openxmlformats.org/officeDocument/2006/relationships/slide" Target="/ppt/slides/slide3.xml" Id="Rbe38d9d76ad34281" /><Relationship Type="http://schemas.openxmlformats.org/officeDocument/2006/relationships/slide" Target="/ppt/slides/slide4.xml" Id="R5cf0abe0d55a45bb" /><Relationship Type="http://schemas.openxmlformats.org/officeDocument/2006/relationships/slide" Target="/ppt/slides/slide5.xml" Id="Ref596cfcab4b447a" /><Relationship Type="http://schemas.openxmlformats.org/officeDocument/2006/relationships/slide" Target="/ppt/slides/slide6.xml" Id="R5009bde4797149ca" /><Relationship Type="http://schemas.openxmlformats.org/officeDocument/2006/relationships/slide" Target="/ppt/slides/slide7.xml" Id="R7914cd640acb43f4" /><Relationship Type="http://schemas.openxmlformats.org/officeDocument/2006/relationships/slide" Target="/ppt/slides/slide8.xml" Id="Rf7fc062af2d949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6f2afcdca242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ee4ac20a56460e" /><Relationship Type="http://schemas.openxmlformats.org/officeDocument/2006/relationships/notesMaster" Target="/ppt/notesMasters/notesMaster1.xml" Id="R3276a2bb8af448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7e6ad094b7459e" /><Relationship Type="http://schemas.openxmlformats.org/officeDocument/2006/relationships/notesMaster" Target="/ppt/notesMasters/notesMaster1.xml" Id="R64e5c8b5d8fd49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c78b3ef4ce2498b" /><Relationship Type="http://schemas.openxmlformats.org/officeDocument/2006/relationships/notesMaster" Target="/ppt/notesMasters/notesMaster1.xml" Id="R20579406544942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a8f6631c924aae" /><Relationship Type="http://schemas.openxmlformats.org/officeDocument/2006/relationships/notesMaster" Target="/ppt/notesMasters/notesMaster1.xml" Id="R7b2dbfc5cbba4e7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0c2fa71c31945a2" /><Relationship Type="http://schemas.openxmlformats.org/officeDocument/2006/relationships/notesMaster" Target="/ppt/notesMasters/notesMaster1.xml" Id="R0d46ccc84fb848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a11c141bc24972" /><Relationship Type="http://schemas.openxmlformats.org/officeDocument/2006/relationships/notesMaster" Target="/ppt/notesMasters/notesMaster1.xml" Id="Rae3c94ac64d64a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ca4f2a9f4e4ba1" /><Relationship Type="http://schemas.openxmlformats.org/officeDocument/2006/relationships/notesMaster" Target="/ppt/notesMasters/notesMaster1.xml" Id="R2f1b1c9f745d4f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2089764ba345e1" /><Relationship Type="http://schemas.openxmlformats.org/officeDocument/2006/relationships/notesMaster" Target="/ppt/notesMasters/notesMaster1.xml" Id="R0df3279328d743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5936e556ca4cc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a58e379f15546eb" /><Relationship Type="http://schemas.openxmlformats.org/officeDocument/2006/relationships/slideLayout" Target="/ppt/slideLayouts/slideLayout1.xml" Id="R0e1967d474b14d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e1967d474b14d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d6d372b55f4883" /><Relationship Type="http://schemas.openxmlformats.org/officeDocument/2006/relationships/notesSlide" Target="/ppt/notesSlides/notesSlide1.xml" Id="R641a84cb978141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29c3d2d4744103" /><Relationship Type="http://schemas.openxmlformats.org/officeDocument/2006/relationships/notesSlide" Target="/ppt/notesSlides/notesSlide2.xml" Id="R71380d856b4d4d3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1132fd26364169" /><Relationship Type="http://schemas.openxmlformats.org/officeDocument/2006/relationships/notesSlide" Target="/ppt/notesSlides/notesSlide3.xml" Id="R004790c0508f48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f5937c75bc46fc" /><Relationship Type="http://schemas.openxmlformats.org/officeDocument/2006/relationships/notesSlide" Target="/ppt/notesSlides/notesSlide4.xml" Id="R0f958c85fe2148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f3216089c4ed3" /><Relationship Type="http://schemas.openxmlformats.org/officeDocument/2006/relationships/notesSlide" Target="/ppt/notesSlides/notesSlide5.xml" Id="R33819a6fac8a43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6f251bdd0348dc" /><Relationship Type="http://schemas.openxmlformats.org/officeDocument/2006/relationships/notesSlide" Target="/ppt/notesSlides/notesSlide6.xml" Id="Rb07da11a412f40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ac29746e84e30" /><Relationship Type="http://schemas.openxmlformats.org/officeDocument/2006/relationships/notesSlide" Target="/ppt/notesSlides/notesSlide7.xml" Id="R4840371a66444bd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7f84f4ee2436b" /><Relationship Type="http://schemas.openxmlformats.org/officeDocument/2006/relationships/notesSlide" Target="/ppt/notesSlides/notesSlide8.xml" Id="Raf4c2492ed5e485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97E0C5-7338-4792-A814-42F1EDAB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482F4-0D8D-4F2B-9FBB-A0C12E2E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REDROB DATA &amp; AI CHALLENGE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A0C7A2-0965-42D5-AC9C-BA440934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7334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From 100,000 profiles</a:t>
            </a:r>
          </a:p>
          <a:p xmlns:a="http://schemas.openxmlformats.org/drawingml/2006/main">
            <a:pPr algn="l">
              <a:buNone/>
              <a:defRPr sz="375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to a shortlist recruiters can trust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836373-774F-466A-B68B-7225378E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A deterministic candidate ranking system built to understand fit, reject traps, and survive reproduction.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A9ABCD-6A1B-4C51-97B9-F037E267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38550"/>
            <a:ext cx="11239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52F0C7-57DE-4635-8268-829A039DE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86175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CPU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92B461-3611-4027-BD3E-E41784FB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638550"/>
            <a:ext cx="13525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39140E-CDBF-44F8-985C-3BF9F5CE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686175"/>
            <a:ext cx="1162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NO NETWORK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AF4390-CEB4-4652-BB30-FC31F380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38550"/>
            <a:ext cx="18097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FFB5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35447C-3B13-4370-82F8-EBD849C1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86175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EVIDENCE-GROUNDED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F424C9-9822-4D16-9056-22D0D80A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767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83C8B4-E676-4086-A064-EA71E7A9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4820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84.6s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57DCE0-5071-4F3A-99B6-293D8441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197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native CPU runtime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2D3048-7518-436B-942D-BD673DBA4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4767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293496-146E-48C5-89A4-BF354669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64820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7D666D-D173-4A21-9F68-154AAF49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2197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honeypots in top 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91138E-279A-4ED3-922C-1BA6CE61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476750"/>
            <a:ext cx="26670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F1E9ED-E281-4738-8D24-69FA4F3D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48200"/>
            <a:ext cx="2324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10/10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3744A7-8D54-40F0-886E-2B6B07AB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1970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exact-match tier in top 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6DB63F-2D8D-45DF-BB87-CC630B70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990600"/>
            <a:ext cx="2381250" cy="40957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319FAD-3788-4D5D-A3B4-23EAC099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352550"/>
            <a:ext cx="171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050" b="1">
                <a:solidFill>
                  <a:srgbClr val="35D0BA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35D0BA"/>
                </a:solidFill>
                <a:latin typeface="Aptos Display"/>
                <a:ea typeface="Aptos Display"/>
                <a:cs typeface="Aptos Display"/>
              </a:rPr>
              <a:t>V7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79731E-7B97-4621-AC7D-CA136711F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90750"/>
            <a:ext cx="1809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CALIBRATED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RANKER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5D388C-2214-49F5-BC43-6D7AD37F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05150"/>
            <a:ext cx="142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021F43-4407-4EBD-978D-E22F8B10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390900"/>
            <a:ext cx="1619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9F0F7"/>
                </a:solidFill>
                <a:latin typeface="Aptos"/>
                <a:ea typeface="Aptos"/>
                <a:cs typeface="Aptos"/>
              </a:rPr>
              <a:t>Fit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9F0F7"/>
                </a:solidFill>
                <a:latin typeface="Aptos"/>
                <a:ea typeface="Aptos"/>
                <a:cs typeface="Aptos"/>
              </a:rPr>
              <a:t>+ Availability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9F0F7"/>
                </a:solidFill>
                <a:latin typeface="Aptos"/>
                <a:ea typeface="Aptos"/>
                <a:cs typeface="Aptos"/>
              </a:rPr>
              <a:t>+ Integrity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9F0F7"/>
                </a:solidFill>
                <a:latin typeface="Aptos"/>
                <a:ea typeface="Aptos"/>
                <a:cs typeface="Aptos"/>
              </a:rPr>
              <a:t>+ Reasoning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202731-9E10-42BA-8515-6733E3A3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6A80F2-F8D0-4490-9E2A-A9A2022E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Native Windows CPU: 84.6s  |  Docker reproduction: 162.8s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55D916-824B-4A7A-A819-0EB48A95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59F148-6F81-41A2-BB5A-EDC2B323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53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9FB0C5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FB0C5"/>
                </a:solidFill>
                <a:latin typeface="Aptos"/>
                <a:ea typeface="Aptos"/>
                <a:cs typeface="Aptos"/>
              </a:rPr>
              <a:t>THE INDIC PROTOCOL  ·  PARTICIPANT 686b95d376ce14837de12b88</a:t>
            </a:r>
          </a:p>
        </p:txBody>
      </p:sp>
    </p:spTree>
    <p:extLst>
      <p:ext uri="{BB962C8B-B14F-4D97-AF65-F5344CB8AC3E}">
        <p14:creationId xmlns:p14="http://schemas.microsoft.com/office/powerpoint/2010/main" val="12780776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544A61-CEBB-4827-B65A-5CBA59A2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00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06CA31-0176-4EBB-ABF9-832A3ADC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SCORING TARGET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974C22-2EAA-43D4-9AAA-BDE9BCF5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The metric rewards precision where recruiters feel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558B11-D3BD-4D3E-A849-4BDFDA94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D5E760-2E8D-4EE3-A50C-AD993230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Local code + official challenge bundle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020749-D23B-4041-B578-88EA7E38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7BE5AC-AAD5-46D3-BF09-F3681E51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742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Top-10 quality carries half of the final score. The design therefore protects the first page aggressively instead of optimizing broad recall.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B593E4-417A-4BD7-8B0E-DBB1D5BE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71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NDCG@10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754CEE-0D15-47E8-BE12-A00FF74E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200275"/>
            <a:ext cx="61912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A95FBA-8BE8-4DC7-BC94-031F4667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200275"/>
            <a:ext cx="61912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5742BA-90FA-4D1F-B711-BFE44C759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62175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50%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F334F6-3078-4C28-B96C-5C2F003E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NDCG@50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3D2FD7-197F-4BDF-8DE8-F9FDF07F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943225"/>
            <a:ext cx="61912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F47DE4-E831-4A0B-BF5A-0201D4AB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943225"/>
            <a:ext cx="3714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B5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EA7437-6C0D-4299-B9BC-847ABA6F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905125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30%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7FAF88-7070-47A7-A188-26FBD5F5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576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MAP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4EC28F-A3AE-4C27-AA7D-D131F526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686175"/>
            <a:ext cx="61912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9C8B17-B591-4C4B-B58D-7B9AA0E6B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686175"/>
            <a:ext cx="1857375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7E9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15654B-B6C2-44E8-94F4-507FF3E98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48075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7E9BE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7E9BEF"/>
                </a:solidFill>
                <a:latin typeface="Aptos"/>
                <a:ea typeface="Aptos"/>
                <a:cs typeface="Aptos"/>
              </a:rPr>
              <a:t>15%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8CE742-B63E-4554-876A-2F7452E9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005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P@10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591D2F-6AC3-4F26-9E96-E8F3B313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29125"/>
            <a:ext cx="61912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12E200-EEE8-4520-9511-83B75DF0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29125"/>
            <a:ext cx="619125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D37E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0E926A-5DF6-4A5B-BBDD-F77B1B2AF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91025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D37EF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37EF0"/>
                </a:solidFill>
                <a:latin typeface="Aptos"/>
                <a:ea typeface="Aptos"/>
                <a:cs typeface="Aptos"/>
              </a:rPr>
              <a:t>5%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B13938-0C41-428D-8B69-4506B24A8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752600"/>
            <a:ext cx="2190750" cy="33909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F72C9C-B9B3-4C01-AAE4-67C556C7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0002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DESIGN CONSEQUENCE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E405FD-D50C-46C8-AD03-3A853A68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41935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Protect the top 10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D3E600-3CFE-4583-9C59-22D1BECC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181350"/>
            <a:ext cx="17335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- exact-match career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125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- hard availability gates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125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- decisive honeypot removal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125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- deterministic tie-breaking</a:t>
            </a:r>
          </a:p>
        </p:txBody>
      </p:sp>
    </p:spTree>
    <p:extLst>
      <p:ext uri="{BB962C8B-B14F-4D97-AF65-F5344CB8AC3E}">
        <p14:creationId xmlns:p14="http://schemas.microsoft.com/office/powerpoint/2010/main" val="14764449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6D88E6-C98B-449F-B44C-CF06E112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00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E1F490-1704-458C-97F6-A43416E5B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READ BETWEEN THE LINES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8DE1D2-54E4-4369-A21A-D7E31A0D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The JD is a systems-thinking problem, not a keyword query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D85ADC-E4A3-4040-AF54-3793F64B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8ED6F5-7962-4DA3-BF9B-3DA8C772F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Local code + official challenge bundle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456261-083D-40FB-AA28-C8DE20430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A0CFF-5829-4124-942D-79FD8EF6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52197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B3D612-7822-413C-80EA-53C7D8FC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AFA08B-F50A-4F43-815A-47AD2F74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DEPTH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93797C-3AE1-467B-8306-7402BD48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Embeddings, retrieval, ranking, vector search, evaluation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656D4E-880C-4409-B9E4-1CF7C3E0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Career evidence over skill-list density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D66FFD-B280-4F1B-AF52-13C5FA33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52197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7023D1-7210-46EC-9C47-711FB0E4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5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85268E-1DBF-45F4-94FB-4692C053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335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SHIPPER MODE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D49EDB-667D-450E-B1C1-6F778E981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574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Production ownership, product judgment, recent coding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761633-498E-41BB-A048-F9109F0B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860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Deployed outcomes over research-only claims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9F1C63-DA03-43F6-BDD2-69002B6C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0"/>
            <a:ext cx="52197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7B7129-F965-4400-9B39-942FACFD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9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173C3B-1798-4420-9D5D-63C45041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7E9BE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E9BEF"/>
                </a:solidFill>
                <a:latin typeface="Aptos"/>
                <a:ea typeface="Aptos"/>
                <a:cs typeface="Aptos"/>
              </a:rPr>
              <a:t>FIT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D8EA7F-BC02-4815-BA4F-D6FA4F4D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Product-company context, stable trajectory, India logistics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669D12-4558-41EE-B592-E88DE096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863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Role intent over title prestige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20711A-892B-4042-9A73-EFF569EF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24250"/>
            <a:ext cx="52197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ACF653-DD1F-44E6-87BA-5016D5F43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242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7E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316E09-454C-4548-A91F-420A5DA6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338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37EF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37EF0"/>
                </a:solidFill>
                <a:latin typeface="Aptos"/>
                <a:ea typeface="Aptos"/>
                <a:cs typeface="Aptos"/>
              </a:rPr>
              <a:t>HIRABILITY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CA4A38-1B60-4B84-8B17-A30B7A0F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5765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Recent activity, response behavior, interview reliability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951EE8-BAD3-4F27-A395-632D0C3C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863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Reachability over paper perfection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1D1B2D-18CF-4466-9726-CA445B351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562600"/>
            <a:ext cx="7505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FF6B6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633325-9F4F-482F-8006-83F30414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769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6B6B"/>
                </a:solidFill>
                <a:latin typeface="Aptos"/>
                <a:ea typeface="Aptos"/>
                <a:cs typeface="Aptos"/>
              </a:rPr>
              <a:t>TRAP: perfect AI keywords + contradictory career or stale behavior = not a strong candidate</a:t>
            </a:r>
          </a:p>
        </p:txBody>
      </p:sp>
    </p:spTree>
    <p:extLst>
      <p:ext uri="{BB962C8B-B14F-4D97-AF65-F5344CB8AC3E}">
        <p14:creationId xmlns:p14="http://schemas.microsoft.com/office/powerpoint/2010/main" val="4806640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2BAB0C-DF27-4926-A5C9-C0AA5065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00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9F9B44-32A1-4EA2-8AE9-054FF509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RANKING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B7D565-5593-4C37-A149-05E9820A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One auditable score, with explicit gates around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B5CFFF-09E9-4438-B135-ACF03303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0F2DFA-2110-413C-A498-06AC318F1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Local code + official challenge bundle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0A0A85-2CAA-4ED4-9C91-80AAA9BD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3D82A2-79B5-4FD8-843C-330DF641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619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6EB3A0-B32C-47EB-BE7C-7BE16B623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5735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1A5470-B835-4C57-A4A4-7FA49C36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025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profile + career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5B3C4F-FEAF-43F3-9AC1-EA3150A2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6212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D28E9A-9151-4A07-A164-A1D7D8FE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66850"/>
            <a:ext cx="1619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90BFB-312D-49F7-B0E1-AB48E5029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5735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FIT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AF4E98-A3C0-4B99-95CB-4B6C3D93D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0025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10 dimensions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94C32C-66B0-4C53-BF1E-BCFD948A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176212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D8C011-5978-4C47-AD61-9D7A423B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466850"/>
            <a:ext cx="1619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69AE57-DA49-4DC9-B87A-D0B3D078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65735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BEHAVIOR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D7AFBC-ECA7-4B72-9B54-5AA6072B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0025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availability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46BDD4-E858-4705-A387-A971A3E4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76212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8BC656-F6D0-4D61-8170-9FAFA197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1619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D1CF21-66D4-48B8-817F-3B715E9E1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5735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INTEGRITY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370CA0-E7AC-4F8F-9DE1-8D8CD180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0025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contradictions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D98037-91D7-463F-B399-EC591FD8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76212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65C0D3-E04E-4CC6-B247-7395B549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466850"/>
            <a:ext cx="1619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4B6D70-E2D1-4726-91B8-AA18BAC9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5735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RANK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631D38-CC95-4200-B246-45B21A7E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0025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top 100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020FFD-E7C1-401D-AC80-6836AF8FD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76212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7C1167-A920-4052-9774-35668EE8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466850"/>
            <a:ext cx="1619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4E6B19-F7A0-4458-B820-0F202088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65735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EXPLAIN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7FF638-5532-44BF-968B-B1C489FD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00025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grounded reason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FD6CD9-C42D-42A4-9AE3-73A4DFE3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CALIBRATED FIT WEIGHTS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3B4BB9-14F2-4FEC-8804-5E8A6DF83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575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9F0F7"/>
                </a:solidFill>
                <a:latin typeface="Aptos"/>
                <a:ea typeface="Aptos"/>
                <a:cs typeface="Aptos"/>
              </a:rPr>
              <a:t>Template prior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6E52C6-CF07-4A7D-B6DD-F826DAB4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29565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9E6A2A-2244-4C5D-9556-71182B55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29565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CA88C9-962F-494C-AB24-D6ADE492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38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36%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765A7D-83D8-4E9F-B44F-6308F1E6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481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Title + career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A976CF5-E608-495F-903E-92CD63B0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8620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57E714D-C3B7-401F-A0B1-B99319C9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86200"/>
            <a:ext cx="963083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5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FD4F8DB-D8CE-42AB-8F0A-C0BB9A30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8290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13%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4A174F5-8A22-4AF1-9532-7E1D09A2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386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Career-JD evidence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40E296B-9812-4823-8C40-28A737FF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7675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5C0FDAF-7959-45B4-B6BA-DE604B19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76750"/>
            <a:ext cx="740833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E9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B1BF7A9-3D20-4493-9121-B0C5D9165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419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7E9BE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7E9BE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4C803FD-E06D-45C5-AED9-5A40176A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29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Trajectory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5A70462-2E0A-470A-BAF2-D3037A785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06730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6789AD9-B3DC-459B-8E50-F8C38322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067300"/>
            <a:ext cx="666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37E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F1F04B2-0F49-4C1E-AB8F-97E08072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0101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D37EF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37EF0"/>
                </a:solidFill>
                <a:latin typeface="Aptos"/>
                <a:ea typeface="Aptos"/>
                <a:cs typeface="Aptos"/>
              </a:rPr>
              <a:t>9%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C29FABA-F60E-461F-9427-2E7958E7F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575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Assessments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7697F7B-10DF-43F0-8D25-26E7DAA9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9565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25001B0-0325-439C-B0B7-0D65B23C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95650"/>
            <a:ext cx="592667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3C0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D5DC5B1-829F-48F7-B9DF-C4ADCD93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3238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73C0F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73C0FC"/>
                </a:solidFill>
                <a:latin typeface="Aptos"/>
                <a:ea typeface="Aptos"/>
                <a:cs typeface="Aptos"/>
              </a:rPr>
              <a:t>8%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129A957-4132-4397-AEB1-949CDC1E7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481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Experience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DCDAA0A-C8E9-4685-ACE4-279C0E49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8620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763B559-7652-4118-A7A8-9A3A932E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86200"/>
            <a:ext cx="518583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AD9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151EA3C-E47B-4F99-8F1B-90B777EA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38290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9AD97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AD97B"/>
                </a:solidFill>
                <a:latin typeface="Aptos"/>
                <a:ea typeface="Aptos"/>
                <a:cs typeface="Aptos"/>
              </a:rPr>
              <a:t>7%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0D5CC0A-F2B5-4A3E-B431-B8F3013D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386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Skills + validation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F6757C6-C050-4C34-AB09-748D804F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7675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1F34BDF-4E80-460C-B8EE-EE1161EE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76750"/>
            <a:ext cx="740833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A6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477219A-DD20-4CFD-A8D7-BBDC8383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4196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3A68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3A683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5BA18B2-C7F4-4688-9E5A-0EE005617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29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Logistics + education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61CAAD1-1DB2-4D3C-9364-4B825DF3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7300"/>
            <a:ext cx="26670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E91AEB8-EC05-4CC8-B66F-C0320CC5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7300"/>
            <a:ext cx="518583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3A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F1CCA1D-EBF8-44F4-AF48-3226D8D2D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0101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7%</a:t>
            </a:r>
          </a:p>
        </p:txBody>
      </p:sp>
    </p:spTree>
    <p:extLst>
      <p:ext uri="{BB962C8B-B14F-4D97-AF65-F5344CB8AC3E}">
        <p14:creationId xmlns:p14="http://schemas.microsoft.com/office/powerpoint/2010/main" val="2076834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7C906E-3162-44A1-AE3F-29ECDF70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00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6674B-580C-4997-9A93-873C5845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AUDIT-DRIVEN 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22D438-676F-421A-AA27-1D6A87BB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The biggest gains came from removing false confidence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A6B7E8-A895-4810-A55B-D33EC406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E5F9C1-875C-4E98-B198-BB161BD1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Local code + official challenge bundle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43F58A-E163-4B0B-A569-8563E1E4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5EA5A8-A549-406F-96FA-114585A5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The initial system looked sophisticated, but several mechanics were not defensible. Each was replaced with a simpler measurable behavior.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05EF55-2E97-4549-8437-7056492E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AREA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91222C-9B72-427A-85FF-8F6C441D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9240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6B6B"/>
                </a:solidFill>
                <a:latin typeface="Aptos"/>
                <a:ea typeface="Aptos"/>
                <a:cs typeface="Aptos"/>
              </a:rPr>
              <a:t>BEFORE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A9EBB0-7326-4168-96B8-4BD818FE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9240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AFTER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E34D15-FCFD-43DB-8BBC-34BC2F2C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240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E249ED-F0A5-40BB-ACA2-D512FE1D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228850"/>
            <a:ext cx="11144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8C6F32-52B8-46C9-8C00-CBEDD514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Integrity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0BF986-A4A3-4863-B3B1-F82722613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3907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6B6B"/>
                </a:solidFill>
                <a:latin typeface="Aptos"/>
                <a:ea typeface="Aptos"/>
                <a:cs typeface="Aptos"/>
              </a:rPr>
              <a:t>29,220 profiles penalized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CFC164-2A69-44F0-91D7-FB32A64D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907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57 decisive contradictions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87F7E8-C659-48F1-BB46-0AF95940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907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Fixed current-role date-span false positives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FECAE9-4543-496C-BB55-469BF7B9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105150"/>
            <a:ext cx="11144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5F82D6-7F2C-4ABC-A51C-5E4ABC35A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Behavior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7EC52B-0600-4A92-ACA9-775E8524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670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6B6B"/>
                </a:solidFill>
                <a:latin typeface="Aptos"/>
                <a:ea typeface="Aptos"/>
                <a:cs typeface="Aptos"/>
              </a:rPr>
              <a:t>Most strong profiles saturated at max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98E9CE-302D-4E93-9B9A-C04C1812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2670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Hundreds of distinct values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15AE20-D4B8-4FC5-A43C-BF2E4B2D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Removed duplicate counting; added reachability gates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EF83DF-523D-4B4C-A13A-FD1EFE31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81450"/>
            <a:ext cx="11144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823627-B89B-47C7-BEB2-6B412F07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Semantics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D51D6B-5DFB-4A67-B750-A0275B91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1433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6B6B"/>
                </a:solidFill>
                <a:latin typeface="Aptos"/>
                <a:ea typeface="Aptos"/>
                <a:cs typeface="Aptos"/>
              </a:rPr>
              <a:t>JD embedding included the whole bundle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A365D9-A9FB-42E3-8A02-549D8805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433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Focused deterministic evidence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58305D-7785-4366-A5F7-103281C5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1433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Default no longer depends on ignored 154 MB artifact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C7625D-3555-47A4-A439-87088462F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857750"/>
            <a:ext cx="11144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7E9C47-C671-49B2-9509-55C7F4FE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863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Combination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1068DA-E456-4C27-8A6A-C62AE988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0196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6B6B"/>
                </a:solidFill>
                <a:latin typeface="Aptos"/>
                <a:ea typeface="Aptos"/>
                <a:cs typeface="Aptos"/>
              </a:rPr>
              <a:t>Three linear strategies called an ensemble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610715-D8A2-4A88-BEC6-262EE375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0196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One calibrated weight vector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BFA40C-0538-4034-BE20-2CF555209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0196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Mathematically honest and easier to defend</a:t>
            </a:r>
          </a:p>
        </p:txBody>
      </p:sp>
    </p:spTree>
    <p:extLst>
      <p:ext uri="{BB962C8B-B14F-4D97-AF65-F5344CB8AC3E}">
        <p14:creationId xmlns:p14="http://schemas.microsoft.com/office/powerpoint/2010/main" val="9740347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5716C4-7D70-4190-986E-27D5117D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00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86BC22-D206-4C73-941D-588A6682E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ANTI-TRAP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C75A7-1A4B-4AAC-98B8-FC9F27D2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Three traps, three explicit defenses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440954-7239-4FD5-B2FE-49F388D40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47BEB8-F7B8-4419-B7E1-B484CC39E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Local code + official challenge bundle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813128-CA4D-4713-8A66-73248024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D31A57-013A-4396-996F-FD8DA901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81150"/>
            <a:ext cx="3638550" cy="3886200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D23666-3D19-4B6A-86B6-9D2A8B5F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81150"/>
            <a:ext cx="3638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5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E39707-979B-407B-B503-DF270CA8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KEYWORD STUFFER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C48617-DD5F-4B39-BD95-F26D26181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Perfect AI skills; career says marketing or unrelated work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43138C-651B-4D6C-A963-61AF41FD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ABA3F9-9D0E-4D20-BFC0-F863E5D2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DEFENSE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B9831D-7598-4AB6-83D9-53E42279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Title-career fit + skill-career validation + stuffing penalty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9E1063-B780-4F3B-9163-2E2F75BD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FFB5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572459-B311-4A8A-91B2-BEADBDC8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DOWN-RANK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043B9C-14D3-4FFE-BD12-ABA1F4D9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81150"/>
            <a:ext cx="3638550" cy="3886200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611E6-8A7E-4800-A5C7-2CE754F6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81150"/>
            <a:ext cx="3638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27A7DB-9EA3-4454-903F-4735CD83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6B6B"/>
                </a:solidFill>
                <a:latin typeface="Aptos"/>
                <a:ea typeface="Aptos"/>
                <a:cs typeface="Aptos"/>
              </a:rPr>
              <a:t>IMPOSSIBLE PROFILE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3D024B-BE7B-45D3-954A-3E50FEAA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05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Experience, dates, or expert-skill durations contradict each other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A5A340-A90F-428C-BF20-CD4D54C6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004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046FE0-B425-445A-9C6F-7935C6E8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40995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DEFENSE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5B789D-2B6C-4126-B0C7-E539AE10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6957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Cross-field integrity scorer; decisive contradictions only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82579B-DE10-4392-8E8C-909E9B6D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8630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FF6B6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CF6113-F6E8-4ABD-A16A-3ABDF493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76250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6B6B"/>
                </a:solidFill>
                <a:latin typeface="Aptos"/>
                <a:ea typeface="Aptos"/>
                <a:cs typeface="Aptos"/>
              </a:rPr>
              <a:t>REMOVE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D24925-6012-4932-9BA0-E1ABF8206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81150"/>
            <a:ext cx="3638550" cy="3886200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85A9F7-8500-48F0-81F3-8014C17D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81150"/>
            <a:ext cx="3638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A0FE55-FAE7-4365-8F13-283BCE94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669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UNREACHABLE STAR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20E733-CAF3-4BFA-9244-E8437429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05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Excellent retrieval background; 5% response rate and stale activity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6188F8-7B70-4EFE-926D-E46640C2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04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0D03F2-D1E5-4A45-AF28-56037DE7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40995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3A4B8"/>
                </a:solidFill>
                <a:latin typeface="Aptos"/>
                <a:ea typeface="Aptos"/>
                <a:cs typeface="Aptos"/>
              </a:rPr>
              <a:t>DEFENSE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64E4CD-6F39-49FA-969B-6A3CB2BD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Weighted availability score + explicit unreachable gate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69AE2C-0338-4E34-9221-DFC50325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8630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73315E-E9EC-4B93-AD7D-B1431891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76250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DOWN-WEIGHT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0B01CC-2313-4997-91A6-661DE4FF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3405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Result: zero detected honeypots and zero very-low-availability profiles in the submitted top 100.</a:t>
            </a:r>
          </a:p>
        </p:txBody>
      </p:sp>
    </p:spTree>
    <p:extLst>
      <p:ext uri="{BB962C8B-B14F-4D97-AF65-F5344CB8AC3E}">
        <p14:creationId xmlns:p14="http://schemas.microsoft.com/office/powerpoint/2010/main" val="10101965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74B7E9-72BD-43C9-8EEF-EC0360DCD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00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B7361-7CEA-41C8-B266-AB8ABE7C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MEASURED RESULTS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C1499B-B7E0-43A0-9C80-A2C1F7CD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The full-pool run stays fast and the shortlist stays clean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193AC8-7139-4B57-96D1-C154CE0A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7AAB4-E6FD-4C27-8CE2-54E32E6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Local code + official challenge bundle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6F9F6F-18F1-4759-B762-1B0D371E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CEEE25-D12B-4DCC-94E0-43D9D57A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41C478-DBDA-40F7-A91B-2CA6F02A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3830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100,000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7B2037-AC06-4B30-ADE7-8161A58C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098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profiles ranked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DD23EE-F1F7-43F0-B3FF-A6B085E8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4668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94757A-5745-495F-860E-264201BC6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63830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84.6s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2BCFF5-A112-43DD-ABB3-BCA21555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098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native CPU time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7554A6-C566-4E2E-897C-7D5A3AD3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4668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4A20B1-601D-4C94-8127-DD763E6F1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3830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57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33CDE3-C6FE-4AA2-8527-DEA07225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098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decisive contradictions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11EEB5-4670-47B7-9A24-1775C28D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66850"/>
            <a:ext cx="28575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5432C8-FCE5-402B-A150-8C2C3DDC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638300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7E9BE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7E9BEF"/>
                </a:solidFill>
                <a:latin typeface="Aptos"/>
                <a:ea typeface="Aptos"/>
                <a:cs typeface="Aptos"/>
              </a:rPr>
              <a:t>100/100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31F44E-071D-4B69-9DD3-43AE6B02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09800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unique reasonings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C27D4F-869D-4825-A876-D1CC14AF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90850"/>
            <a:ext cx="52197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39CDEC-3070-460E-AD9E-E106D724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NATIVE RUNTIME BREAKDOWN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AFA22E-FAFB-4F17-BB39-FBE59426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766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9F0F7"/>
                </a:solidFill>
                <a:latin typeface="Aptos"/>
                <a:ea typeface="Aptos"/>
                <a:cs typeface="Aptos"/>
              </a:rPr>
              <a:t>Load candidates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42EA39-4022-4EA3-B4FF-8947E575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95700"/>
            <a:ext cx="27622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74E2B5-9D2C-4D47-B6A4-CC57701E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95700"/>
            <a:ext cx="300134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B5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F73FCF-B978-4EB1-BB9E-E4CA5E2D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657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9.0s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6F749A-FFAD-4108-90D5-20E42DA50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291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9F0F7"/>
                </a:solidFill>
                <a:latin typeface="Aptos"/>
                <a:ea typeface="Aptos"/>
                <a:cs typeface="Aptos"/>
              </a:rPr>
              <a:t>Score + rank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7BA684-CC6C-45D5-AB6A-419EE37A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48150"/>
            <a:ext cx="27622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11AEE4-F954-4266-9C28-0F362C92D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48150"/>
            <a:ext cx="2423963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5FBE51-027D-46E9-852B-6C6C86A3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2100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74.7s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BA5C33-A7AD-4B94-86E5-D9A800EB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Budget used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56A65D-8568-4B81-BE25-115A66B3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387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6FAFD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6FAFD"/>
                </a:solidFill>
                <a:latin typeface="Aptos"/>
                <a:ea typeface="Aptos"/>
                <a:cs typeface="Aptos"/>
              </a:rPr>
              <a:t>28%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12339D-AB9A-4155-9613-83515965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339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of 5-minute limit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89F6797-E56E-455D-B1B0-E87CAB43C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90850"/>
            <a:ext cx="56007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111D2E"/>
          </a:solidFill>
          <a:ln xmlns:a="http://schemas.openxmlformats.org/drawingml/2006/main" w="9525">
            <a:solidFill>
              <a:srgbClr val="29405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4694562-FC90-4475-9474-FBEDECC8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194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SHORTLIST AUDIT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E10681-5BF9-42A9-8516-0765BB65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385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Top 10 exact-match tier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901AAF-5F79-470B-951D-0F6C7A4D7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0997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10 / 10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00B81F-9A88-4896-B4FF-8840110F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Top 50 tier 5 + tier 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F09BF05-405D-4781-A838-CA420F6C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06717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13 + 37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1F7AA3A-7AD8-40E8-B22B-B9DEE88A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529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Top 100 tier 5 + tier 4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56468D-50A5-426C-B79E-BEDCF21D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52437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7E9BE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7E9BEF"/>
                </a:solidFill>
                <a:latin typeface="Aptos"/>
                <a:ea typeface="Aptos"/>
                <a:cs typeface="Aptos"/>
              </a:rPr>
              <a:t>13 + 87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46CD317-ABB8-493B-B5AE-F8A5FE98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101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Honeypots / unavailable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08245A1-B0F6-40C6-A462-46D3F7333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98157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 / 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6E80A39-3F4C-48A2-B95D-E9F30B00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00450"/>
            <a:ext cx="514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CF220C-A69C-4E21-A3C7-7BE2B8EA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86175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9.0s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77941D-0F5E-4C80-A9AD-728082BA6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152900"/>
            <a:ext cx="514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63E0717-CCE2-4017-B61A-AFC77FB8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38625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74.7s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267F777-751B-4DFC-AD46-F4EB8860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81400"/>
            <a:ext cx="5905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A623CD4-4E77-4FA8-B5D0-FD6D2D82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14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9.0s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A7C7033-5354-4799-BD29-5EAE2505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33850"/>
            <a:ext cx="5905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0CA0875-D513-4A9D-8E5C-B3920272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2672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74.7s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936396-9124-44D1-9B54-556240DDB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4619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3CCBB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3CCBBF"/>
                </a:solidFill>
                <a:latin typeface="Aptos"/>
                <a:ea typeface="Aptos"/>
                <a:cs typeface="Aptos"/>
              </a:rPr>
              <a:t>Docker reproduction: 162.8s  ·  identical output SHA-256</a:t>
            </a:r>
          </a:p>
        </p:txBody>
      </p:sp>
    </p:spTree>
    <p:extLst>
      <p:ext uri="{BB962C8B-B14F-4D97-AF65-F5344CB8AC3E}">
        <p14:creationId xmlns:p14="http://schemas.microsoft.com/office/powerpoint/2010/main" val="12507723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EBD66A-FD12-4C64-878D-7A914E56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00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559121-3888-49F1-AA04-94DC92D3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SUBMISSION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E18A7-E214-487B-815F-FE5FF108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Built to survive every evaluation stage, not just scoring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6FE19-3C7E-4290-92F1-5510B762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310496-A8BC-44A1-BE4B-5813AB93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3A4B8"/>
                </a:solidFill>
                <a:latin typeface="Aptos"/>
                <a:ea typeface="Aptos"/>
                <a:cs typeface="Aptos"/>
              </a:rPr>
              <a:t>Local code + official challenge bundle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105673-1F97-42D5-8CF2-EFF8A249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9D69EE-9069-472F-BB8D-FBBF2F01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1513CA-9C24-411B-ACBD-DA3878CD7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6C78C6-EE02-4A8C-B19C-2261CF7EE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4668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FORMAT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09DF3F-5126-45D3-92A5-D7FE2636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954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Official validator passes; exactly 100 ranked rows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B780CF-7E04-4290-9EF0-6DD48DB7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547"/>
          </a:solidFill>
          <a:ln xmlns:a="http://schemas.openxmlformats.org/drawingml/2006/main" w="9525">
            <a:solidFill>
              <a:srgbClr val="FFB54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667841-3659-4D37-B278-0C941240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EFF806-60A5-41D9-9EC1-8E69CEB8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860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SCORE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6CF8FC-0D88-4858-9BF5-D9D5C9B4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1460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Top-10-first ranking with exact-match prior and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8CA402-3CAE-4046-861C-116BB0CA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9BEF"/>
          </a:solidFill>
          <a:ln xmlns:a="http://schemas.openxmlformats.org/drawingml/2006/main" w="9525">
            <a:solidFill>
              <a:srgbClr val="7E9B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AD37B0-33AB-4422-9C4F-952096BCC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DF6D7B-6840-4B40-8300-2E512DBA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051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7E9BE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E9BEF"/>
                </a:solidFill>
                <a:latin typeface="Aptos"/>
                <a:ea typeface="Aptos"/>
                <a:cs typeface="Aptos"/>
              </a:rPr>
              <a:t>REPRODUCE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7E0ABC-0DD8-4C1A-826F-A084BEF3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337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E9F0F7"/>
                </a:solidFill>
                <a:latin typeface="Aptos"/>
                <a:ea typeface="Aptos"/>
                <a:cs typeface="Aptos"/>
              </a:rPr>
              <a:t>Native: 84.6s  |  Docker reproduction: 162.8s  |  no network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FE7234-B3A8-4894-8720-D24E5086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862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7EF0"/>
          </a:solidFill>
          <a:ln xmlns:a="http://schemas.openxmlformats.org/drawingml/2006/main" w="9525">
            <a:solidFill>
              <a:srgbClr val="D37E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30E790-1869-4B33-B065-E468F8476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864964-23E1-46E7-9E32-DD1BBF03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24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37EF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37EF0"/>
                </a:solidFill>
                <a:latin typeface="Aptos"/>
                <a:ea typeface="Aptos"/>
                <a:cs typeface="Aptos"/>
              </a:rPr>
              <a:t>MANUAL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75B097-DC32-4948-926A-8E4B97D0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5290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100 unique, candidate-grounded reasons; honest trade-offs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D7E52-6D1C-406C-9329-6352571A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5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D0B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8D50F8-8F27-4193-86DC-0A5E004E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CE6F5B-299A-4D15-9ADC-E933BE08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434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5D0B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D0BA"/>
                </a:solidFill>
                <a:latin typeface="Aptos"/>
                <a:ea typeface="Aptos"/>
                <a:cs typeface="Aptos"/>
              </a:rPr>
              <a:t>DEFEND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31941F-0D4B-4498-B83F-0A4ADD19C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72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One calibrated score; explicit gates; documented limitations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8ADA06-3F34-46DC-A99C-383F4F46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466850"/>
            <a:ext cx="3905250" cy="388620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17263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327312-6015-46DE-9B48-4914FAEB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526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B54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B547"/>
                </a:solidFill>
                <a:latin typeface="Aptos"/>
                <a:ea typeface="Aptos"/>
                <a:cs typeface="Aptos"/>
              </a:rPr>
              <a:t>HONEST LIMITATION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B56678-8F34-4848-BC06-0C49F975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526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6FAFD"/>
                </a:solidFill>
                <a:latin typeface="Aptos Display"/>
                <a:ea typeface="Aptos Display"/>
                <a:cs typeface="Aptos Display"/>
              </a:rPr>
              <a:t>No public labels means no one can know the hidden score before judging.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5D28DD-0453-4A2C-9EAB-9AC0AF49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76600"/>
            <a:ext cx="3143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9F0F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9F0F7"/>
                </a:solidFill>
                <a:latin typeface="Aptos"/>
                <a:ea typeface="Aptos"/>
                <a:cs typeface="Aptos"/>
              </a:rPr>
              <a:t>Our response is disciplined inference: challenge-specific priors, measurable audits, deterministic reproduction, and clear reasoning.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6229B5-1733-46DD-A7B0-E79FD926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48200"/>
            <a:ext cx="3048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D0BA"/>
          </a:solidFill>
          <a:ln xmlns:a="http://schemas.openxmlformats.org/drawingml/2006/main" w="9525">
            <a:solidFill>
              <a:srgbClr val="35D0B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6728299-65D4-47B8-9D69-60D609B3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625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READY TO SUBMIT. READY TO EXPLAIN.</a:t>
            </a:r>
          </a:p>
        </p:txBody>
      </p:sp>
    </p:spTree>
    <p:extLst>
      <p:ext uri="{BB962C8B-B14F-4D97-AF65-F5344CB8AC3E}">
        <p14:creationId xmlns:p14="http://schemas.microsoft.com/office/powerpoint/2010/main" val="281489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2026-06-15T19:05:37.5810000Z</dcterms:created>
  <dcterms:modified xsi:type="dcterms:W3CDTF">2026-06-15T19:05:37.5810000Z</dcterms:modified>
</coreProperties>
</file>