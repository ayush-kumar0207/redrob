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5e124cb4964a0c" /><Relationship Type="http://schemas.openxmlformats.org/officeDocument/2006/relationships/extended-properties" Target="/docProps/app.xml" Id="R9118bf3f365f404f" /><Relationship Type="http://schemas.openxmlformats.org/officeDocument/2006/relationships/officeDocument" Target="/ppt/presentation.xml" Id="R57dbed6d144f48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33b516daa4e7a"/>
  </p:sldMasterIdLst>
  <p:notesMasterIdLst>
    <p:notesMasterId xmlns:r="http://schemas.openxmlformats.org/officeDocument/2006/relationships" r:id="R94ff367a08a6445d"/>
  </p:notesMasterIdLst>
  <p:sldIdLst>
    <p:sldId xmlns:r="http://schemas.openxmlformats.org/officeDocument/2006/relationships" id="256" r:id="R3251f56d659a4ea0"/>
    <p:sldId xmlns:r="http://schemas.openxmlformats.org/officeDocument/2006/relationships" id="257" r:id="R89895c24c40e49a6"/>
    <p:sldId xmlns:r="http://schemas.openxmlformats.org/officeDocument/2006/relationships" id="258" r:id="Re4bea2ce8f9545c4"/>
    <p:sldId xmlns:r="http://schemas.openxmlformats.org/officeDocument/2006/relationships" id="259" r:id="R1b5dfc98a8c84c11"/>
    <p:sldId xmlns:r="http://schemas.openxmlformats.org/officeDocument/2006/relationships" id="260" r:id="R463c22b404df4667"/>
    <p:sldId xmlns:r="http://schemas.openxmlformats.org/officeDocument/2006/relationships" id="261" r:id="R43ac35b31c534ba7"/>
    <p:sldId xmlns:r="http://schemas.openxmlformats.org/officeDocument/2006/relationships" id="262" r:id="Ra60c77647ead48cf"/>
    <p:sldId xmlns:r="http://schemas.openxmlformats.org/officeDocument/2006/relationships" id="263" r:id="R1aa967afa4c54f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b08820009d4523" /><Relationship Type="http://schemas.openxmlformats.org/officeDocument/2006/relationships/slideMaster" Target="/ppt/slideMasters/slideMaster1.xml" Id="R02733b516daa4e7a" /><Relationship Type="http://schemas.openxmlformats.org/officeDocument/2006/relationships/notesMaster" Target="/ppt/notesMasters/notesMaster1.xml" Id="R94ff367a08a6445d" /><Relationship Type="http://schemas.openxmlformats.org/officeDocument/2006/relationships/presProps" Target="/ppt/presProps.xml" Id="R2cd4a04a77fb4dcf" /><Relationship Type="http://schemas.openxmlformats.org/officeDocument/2006/relationships/tableStyles" Target="/ppt/tableStyles.xml" Id="R7a128e2e672a4ed1" /><Relationship Type="http://schemas.openxmlformats.org/officeDocument/2006/relationships/slide" Target="/ppt/slides/slide1.xml" Id="R3251f56d659a4ea0" /><Relationship Type="http://schemas.openxmlformats.org/officeDocument/2006/relationships/slide" Target="/ppt/slides/slide2.xml" Id="R89895c24c40e49a6" /><Relationship Type="http://schemas.openxmlformats.org/officeDocument/2006/relationships/slide" Target="/ppt/slides/slide3.xml" Id="Re4bea2ce8f9545c4" /><Relationship Type="http://schemas.openxmlformats.org/officeDocument/2006/relationships/slide" Target="/ppt/slides/slide4.xml" Id="R1b5dfc98a8c84c11" /><Relationship Type="http://schemas.openxmlformats.org/officeDocument/2006/relationships/slide" Target="/ppt/slides/slide5.xml" Id="R463c22b404df4667" /><Relationship Type="http://schemas.openxmlformats.org/officeDocument/2006/relationships/slide" Target="/ppt/slides/slide6.xml" Id="R43ac35b31c534ba7" /><Relationship Type="http://schemas.openxmlformats.org/officeDocument/2006/relationships/slide" Target="/ppt/slides/slide7.xml" Id="Ra60c77647ead48cf" /><Relationship Type="http://schemas.openxmlformats.org/officeDocument/2006/relationships/slide" Target="/ppt/slides/slide8.xml" Id="R1aa967afa4c5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209c831b6249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26492cfad4e6b" /><Relationship Type="http://schemas.openxmlformats.org/officeDocument/2006/relationships/notesMaster" Target="/ppt/notesMasters/notesMaster1.xml" Id="R8895ac67f57648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c65487d2f44b7a" /><Relationship Type="http://schemas.openxmlformats.org/officeDocument/2006/relationships/notesMaster" Target="/ppt/notesMasters/notesMaster1.xml" Id="R334508207caf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26a015e3349eb" /><Relationship Type="http://schemas.openxmlformats.org/officeDocument/2006/relationships/notesMaster" Target="/ppt/notesMasters/notesMaster1.xml" Id="R5d0a76ddfdba45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505e8f7094f98" /><Relationship Type="http://schemas.openxmlformats.org/officeDocument/2006/relationships/notesMaster" Target="/ppt/notesMasters/notesMaster1.xml" Id="Rc74579c10bc84d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5511ab8ebb4208" /><Relationship Type="http://schemas.openxmlformats.org/officeDocument/2006/relationships/notesMaster" Target="/ppt/notesMasters/notesMaster1.xml" Id="R89829ec57182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d549c10aed4a74" /><Relationship Type="http://schemas.openxmlformats.org/officeDocument/2006/relationships/notesMaster" Target="/ppt/notesMasters/notesMaster1.xml" Id="R0cdef04d355548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3c078311842f9" /><Relationship Type="http://schemas.openxmlformats.org/officeDocument/2006/relationships/notesMaster" Target="/ppt/notesMasters/notesMaster1.xml" Id="Rad7e7b4a333a4d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5c045831184433" /><Relationship Type="http://schemas.openxmlformats.org/officeDocument/2006/relationships/notesMaster" Target="/ppt/notesMasters/notesMaster1.xml" Id="R9556432e914a4c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58e95ecde47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49dc6154349c8" /><Relationship Type="http://schemas.openxmlformats.org/officeDocument/2006/relationships/slideLayout" Target="/ppt/slideLayouts/slideLayout1.xml" Id="R217cf827fa74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cf827fa74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b31eb3ed34cab" /><Relationship Type="http://schemas.openxmlformats.org/officeDocument/2006/relationships/notesSlide" Target="/ppt/notesSlides/notesSlide1.xml" Id="R5759c761e54340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ba1a88344a06" /><Relationship Type="http://schemas.openxmlformats.org/officeDocument/2006/relationships/notesSlide" Target="/ppt/notesSlides/notesSlide2.xml" Id="R826954c1abea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b2f4da11f40c2" /><Relationship Type="http://schemas.openxmlformats.org/officeDocument/2006/relationships/notesSlide" Target="/ppt/notesSlides/notesSlide3.xml" Id="R1df1e4b91081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96811d4d245bc" /><Relationship Type="http://schemas.openxmlformats.org/officeDocument/2006/relationships/notesSlide" Target="/ppt/notesSlides/notesSlide4.xml" Id="R0a48be6ee52f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4901eafaa4849" /><Relationship Type="http://schemas.openxmlformats.org/officeDocument/2006/relationships/notesSlide" Target="/ppt/notesSlides/notesSlide5.xml" Id="Rcc6a3a661c2c44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e50b52a8048a0" /><Relationship Type="http://schemas.openxmlformats.org/officeDocument/2006/relationships/notesSlide" Target="/ppt/notesSlides/notesSlide6.xml" Id="R4af574f0088843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3c15d84564217" /><Relationship Type="http://schemas.openxmlformats.org/officeDocument/2006/relationships/notesSlide" Target="/ppt/notesSlides/notesSlide7.xml" Id="R14779c6709aa43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8da6bd833481c" /><Relationship Type="http://schemas.openxmlformats.org/officeDocument/2006/relationships/notesSlide" Target="/ppt/notesSlides/notesSlide8.xml" Id="R2e368e845efa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7E0C5-7338-4792-A814-42F1EDA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482F4-0D8D-4F2B-9FBB-A0C12E2E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REDROB DATA &amp; AI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C7A2-0965-42D5-AC9C-BA440934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From 100,000 profiles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to a shortlist recruiters can 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6373-774F-466A-B68B-7225378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A deterministic candidate ranking system built to understand fit, reject traps, and survive reproduction.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9ABCD-6A1B-4C51-97B9-F037E267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2F0C7-57DE-4635-8268-829A039D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CPU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2B461-3611-4027-BD3E-E41784F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3855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9140E-CDBF-44F8-985C-3BF9F5C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861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NO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F4390-CEB4-4652-BB30-FC31F380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5447C-3B13-4370-82F8-EBD849C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EVIDENCE-GROUNDED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424C9-9822-4D16-9056-22D0D80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3C8B4-E676-4086-A064-EA71E7A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84.6s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7DCE0-5071-4F3A-99B6-293D844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full-pool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D3048-7518-436B-942D-BD673DBA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76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93496-146E-48C5-89A4-BF354669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482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D666D-D173-4A21-9F68-154AAF4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honeypots in top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1138E-279A-4ED3-922C-1BA6CE6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667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1E9ED-E281-4738-8D24-69FA4F3D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744A7-8D54-40F0-886E-2B6B07A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exact-match tier in top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DB63F-2D8D-45DF-BB87-CC630B70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9060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19FAD-3788-4D5D-A3B4-23EAC099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525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5D0B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35D0BA"/>
                </a:solidFill>
                <a:latin typeface="Aptos Display"/>
                <a:ea typeface="Aptos Display"/>
                <a:cs typeface="Aptos Display"/>
              </a:rPr>
              <a:t>V7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9731E-7B97-4621-AC7D-CA136711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CALIBRATED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RANKER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D388C-2214-49F5-BC43-6D7AD37F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21F43-4407-4EBD-978D-E22F8B1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Fit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+ Availability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+ Integrity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+ Reasoning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02731-9E10-42BA-8515-6733E3A3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A80F2-F8D0-4490-9E2A-A9A2022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Measured locally on the released 100,000-candidate pool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5D916-824B-4A7A-A819-0EB48A95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8077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44A61-CEBB-4827-B65A-5CBA59A2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6CA31-0176-4EBB-ABF9-832A3ADC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SCORING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74C22-2EAA-43D4-9AAA-BDE9BCF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The metric rewards precision where recruiters feel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58B11-D3BD-4D3E-A849-4BDFDA94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E760-2E8D-4EE3-A50C-AD993230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20749-D23B-4041-B578-88EA7E38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BE5AC-AAD5-46D3-BF09-F3681E51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Top-10 quality carries half of the final score. The design therefore protects the first page aggressively instead of optimizing broad recall.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593E4-417A-4BD7-8B0E-DBB1D5BE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NDCG@10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54CEE-0D15-47E8-BE12-A00FF74E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0275"/>
            <a:ext cx="619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95FBA-8BE8-4DC7-BC94-031F4667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0275"/>
            <a:ext cx="619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742BA-90FA-4D1F-B711-BFE44C7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621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334F6-3078-4C28-B96C-5C2F003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NDCG@50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D2FD7-197F-4BDF-8DE8-F9FDF07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43225"/>
            <a:ext cx="619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47DE4-E831-4A0B-BF5A-0201D4AB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43225"/>
            <a:ext cx="3714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A7437-6C0D-4299-B9BC-847ABA6F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051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FAF88-7070-47A7-A188-26FBD5F5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EC28F-A3AE-4C27-AA7D-D131F526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619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C8B17-B591-4C4B-B58D-7B9AA0E6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18573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9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5654B-B6C2-44E8-94F4-507FF3E9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480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7E9B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E9BE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CE742-B63E-4554-876A-2F7452E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P@10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91D2F-6AC3-4F26-9E96-E8F3B31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619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2E200-EEE8-4520-9511-83B75DF0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6191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3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E926A-5DF6-4A5B-BBDD-F77B1B2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910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D37E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7EF0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13938-0C41-428D-8B69-4506B24A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52600"/>
            <a:ext cx="2190750" cy="33909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72C9C-B9B3-4C01-AAE4-67C556C7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0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DESIGN CONSEQUENCE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405FD-D50C-46C8-AD03-3A853A6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193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Protect the top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3E600-3CFE-4583-9C59-22D1BECC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733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- exact-match career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- hard availability gates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- decisive honeypot removal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- deterministic tie-breaking</a:t>
            </a:r>
          </a:p>
        </p:txBody>
      </p:sp>
    </p:spTree>
    <p:extLst>
      <p:ext uri="{BB962C8B-B14F-4D97-AF65-F5344CB8AC3E}">
        <p14:creationId xmlns:p14="http://schemas.microsoft.com/office/powerpoint/2010/main" val="1476444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D88E6-C98B-449F-B44C-CF06E112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1F490-1704-458C-97F6-A43416E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READ BETWEEN THE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DE1D2-54E4-4369-A21A-D7E31A0D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The JD is a systems-thinking problem, not a keyword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85ADC-E4A3-4040-AF54-3793F64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ED6F5-7962-4DA3-BF9B-3DA8C77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56261-083D-40FB-AA28-C8DE204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0CFF-5829-4124-942D-79FD8EF6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19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3D612-7822-413C-80EA-53C7D8FC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FA08B-F50A-4F43-815A-47AD2F7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3797C-3AE1-467B-8306-7402BD4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Embeddings, retrieval, ranking, vector search,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56D4E-880C-4409-B9E4-1CF7C3E0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Career evidence over skill-list density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66FFD-B280-4F1B-AF52-13C5FA3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219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023D1-7210-46EC-9C47-711FB0E4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5268E-1DBF-45F4-94FB-4692C053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SHIPPER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49EDB-667D-450E-B1C1-6F778E98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Production ownership, product judgment, recent coding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61633-498E-41BB-A048-F9109F0B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Deployed outcomes over research-only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F1C63-DA03-43F6-BDD2-69002B6C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219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B7129-F965-4400-9B39-942FACF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73C3B-1798-4420-9D5D-63C45041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9BE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E9BEF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8EA7F-BC02-4815-BA4F-D6FA4F4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Product-company context, stable trajectory, India logistics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69D12-4558-41EE-B592-E88DE096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Role intent over title prestige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0711A-892B-4042-9A73-EFF569E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219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CF653-DD1F-44E6-87BA-5016D5F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16E09-454C-4548-A91F-420A5DA6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37EF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37EF0"/>
                </a:solidFill>
                <a:latin typeface="Aptos"/>
                <a:ea typeface="Aptos"/>
                <a:cs typeface="Aptos"/>
              </a:rPr>
              <a:t>HIRABILITY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A4A38-1B60-4B84-8B17-A30B7A0F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Recent activity, response behavior, interview reliability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51EE8-BAD3-4F27-A395-632D0C3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Reachability over paper perfection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D1B2D-18CF-4466-9726-CA445B35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62600"/>
            <a:ext cx="7505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33325-9F4F-482F-8006-83F3041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TRAP: perfect AI keywords + contradictory career or stale behavior = not a strong candidate</a:t>
            </a:r>
          </a:p>
        </p:txBody>
      </p:sp>
    </p:spTree>
    <p:extLst>
      <p:ext uri="{BB962C8B-B14F-4D97-AF65-F5344CB8AC3E}">
        <p14:creationId xmlns:p14="http://schemas.microsoft.com/office/powerpoint/2010/main" val="480664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BAB0C-DF27-4926-A5C9-C0AA5065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F9B44-32A1-4EA2-8AE9-054FF50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RANKING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D565-5593-4C37-A149-05E9820A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One auditable score, with explicit gates around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5CFFF-09E9-4438-B135-ACF0330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F2DFA-2110-413C-A498-06AC318F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A0A85-2CAA-4ED4-9C91-80AAA9BD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D82A2-79B5-4FD8-843C-330DF641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EB3A0-B32C-47EB-BE7C-7BE16B62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A5470-B835-4C57-A4A4-7FA49C3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profile + career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B3C4F-FEAF-43F3-9AC1-EA3150A2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62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28E9A-9151-4A07-A164-A1D7D8FE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90BFB-312D-49F7-B0E1-AB48E50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73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F4E98-A3C0-4B99-95CB-4B6C3D9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10 dimensions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4C32C-66B0-4C53-BF1E-BCFD948A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762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8C011-5978-4C47-AD61-9D7A423B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AE57-DA49-4DC9-B87A-D0B3D07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7AFBC-ECA7-4B72-9B54-5AA6072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6BDD4-E858-4705-A387-A971A3E4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62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BC656-F6D0-4D61-8170-9FAFA197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1CF21-66D4-48B8-817F-3B715E9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70CA0-E7AC-4F8F-9DE1-8D8CD180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contradictions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98037-91D7-463F-B399-EC591FD8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762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5C0D3-E04E-4CC6-B247-7395B54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B6D70-E2D1-4726-91B8-AA18BAC9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31D38-CC95-4200-B246-45B21A7E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top 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20FFD-E7C1-401D-AC80-6836AF8F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762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7C1167-A920-4052-9774-35668EE8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668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E6B19-F7A0-4458-B820-0F202088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573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FF638-5532-44BF-968B-B1C489FD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0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grounded reason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D6CD9-C42D-42A4-9AE3-73A4DFE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CALIBRATED FIT WEIGHTS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B4BB9-14F2-4FEC-8804-5E8A6DF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Template prior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6E52C6-CF07-4A7D-B6DD-F826DAB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9E6A2A-2244-4C5D-9556-71182B55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CA88C9-962F-494C-AB24-D6ADE492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36%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65A7D-83D8-4E9F-B44F-6308F1E6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Title + career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976CF5-E608-495F-903E-92CD63B0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7E714D-C3B7-401F-A0B1-B99319C9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96308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D4F8DB-D8CE-42AB-8F0A-C0BB9A30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29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13%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A174F5-8A22-4AF1-9532-7E1D09A2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Career-JD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0E296B-9812-4823-8C40-28A737F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767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C0FDAF-7959-45B4-B6BA-DE604B19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76750"/>
            <a:ext cx="74083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9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1BF7A9-3D20-4493-9121-B0C5D916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19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E9B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E9BE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C803FD-E06D-45C5-AED9-5A40176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Trajectory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A70462-2E0A-470A-BAF2-D3037A7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673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789AD9-B3DC-459B-8E50-F8C38322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67300"/>
            <a:ext cx="66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7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1F04B2-0F49-4C1E-AB8F-97E0807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D37E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37EF0"/>
                </a:solidFill>
                <a:latin typeface="Aptos"/>
                <a:ea typeface="Aptos"/>
                <a:cs typeface="Aptos"/>
              </a:rPr>
              <a:t>9%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29FABA-F60E-461F-9427-2E7958E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Assessments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697F7B-10DF-43F0-8D25-26E7DAA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5001B0-0325-439C-B0B7-0D65B23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592667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C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5DC5B1-829F-48F7-B9DF-C4ADCD93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38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3C0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3C0FC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29A957-4132-4397-AEB1-949CDC1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CDAA0A-C8E9-4685-ACE4-279C0E4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63B559-7652-4118-A7A8-9A3A932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51858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D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51EA3C-E47B-4F99-8F1B-90B777EA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29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9AD9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D97B"/>
                </a:solidFill>
                <a:latin typeface="Aptos"/>
                <a:ea typeface="Aptos"/>
                <a:cs typeface="Aptos"/>
              </a:rPr>
              <a:t>7%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D5CC0A-F2B5-4A3E-B431-B8F3013D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Skills + validation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6757C6-C050-4C34-AB09-748D804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F34BDF-4E80-460C-B8EE-EE1161EE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74083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6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77219A-DD20-4CFD-A8D7-BBDC838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419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3A6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A683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BA18B2-C7F4-4688-9E5A-0EE0056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Logistics + education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1CAAD1-1DB2-4D3C-9364-4B825DF3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91AEB8-EC05-4CC8-B66F-C0320CC5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51858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1CCA1D-EBF8-44F4-AF48-3226D8D2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010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7%</a:t>
            </a:r>
          </a:p>
        </p:txBody>
      </p:sp>
    </p:spTree>
    <p:extLst>
      <p:ext uri="{BB962C8B-B14F-4D97-AF65-F5344CB8AC3E}">
        <p14:creationId xmlns:p14="http://schemas.microsoft.com/office/powerpoint/2010/main" val="207683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C906E-3162-44A1-AE3F-29ECDF70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6674B-580C-4997-9A93-873C584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AUDIT-DRIVEN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2D438-676F-421A-AA27-1D6A87B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The biggest gains came from removing false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6B7E8-A895-4810-A55B-D33EC406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5F9C1-875C-4E98-B198-BB161BD1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3F58A-E163-4B0B-A569-8563E1E4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EA5A8-A549-406F-96FA-114585A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The initial system looked sophisticated, but several mechanics were not defensible. Each was replaced with a simpler measurable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5EF55-2E97-4549-8437-7056492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1222C-9B72-427A-85FF-8F6C441D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24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9EBB0-7326-4168-96B8-4BD818FE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24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34D15-FCFD-43DB-8BBC-34BC2F2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249ED-F0A5-40BB-ACA2-D512FE1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11144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C6F32-52B8-46C9-8C00-CBEDD51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Integrity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BF986-A4A3-4863-B3B1-F8272261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90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6B6B"/>
                </a:solidFill>
                <a:latin typeface="Aptos"/>
                <a:ea typeface="Aptos"/>
                <a:cs typeface="Aptos"/>
              </a:rPr>
              <a:t>29,220 profiles penalized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FC164-2A69-44F0-91D7-FB32A64D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57 decisive contradictions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7F7E8-C659-48F1-BB46-0AF9594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90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Fixed current-role date-span false positives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ECAE9-4543-496C-BB55-469BF7B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11144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F82D6-7F2C-4ABC-A51C-5E4ABC35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EC52B-0600-4A92-ACA9-775E8524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67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6B6B"/>
                </a:solidFill>
                <a:latin typeface="Aptos"/>
                <a:ea typeface="Aptos"/>
                <a:cs typeface="Aptos"/>
              </a:rPr>
              <a:t>Most strong profiles saturated at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8E9CE-302D-4E93-9B9A-C04C1812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67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Hundreds of distinct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5AE20-D4B8-4FC5-A43C-BF2E4B2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670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Removed duplicate counting; added reachability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F83DF-523D-4B4C-A13A-FD1EFE3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1144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23627-B89B-47C7-BEB2-6B412F07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Semantics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D51D6B-5DFB-4A67-B750-A0275B9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43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6B6B"/>
                </a:solidFill>
                <a:latin typeface="Aptos"/>
                <a:ea typeface="Aptos"/>
                <a:cs typeface="Aptos"/>
              </a:rPr>
              <a:t>JD embedding included the whole bundle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365D9-A9FB-42E3-8A02-549D880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43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Focused deterministic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8305D-7785-4366-A5F7-103281C5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Default no longer depends on ignored 154 MB artifact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7625D-3555-47A4-A439-87088462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11144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E9C47-C671-49B2-9509-55C7F4F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Combination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068DA-E456-4C27-8A6A-C62AE98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9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6B6B"/>
                </a:solidFill>
                <a:latin typeface="Aptos"/>
                <a:ea typeface="Aptos"/>
                <a:cs typeface="Aptos"/>
              </a:rPr>
              <a:t>Three linear strategies called an ensemble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10715-D8A2-4A88-BEC6-262EE375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19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One calibrated weight vector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BFA40C-0538-4034-BE20-2CF55520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196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Mathematically honest and easier to defend</a:t>
            </a:r>
          </a:p>
        </p:txBody>
      </p:sp>
    </p:spTree>
    <p:extLst>
      <p:ext uri="{BB962C8B-B14F-4D97-AF65-F5344CB8AC3E}">
        <p14:creationId xmlns:p14="http://schemas.microsoft.com/office/powerpoint/2010/main" val="974034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716C4-7D70-4190-986E-27D5117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6BC22-D206-4C73-941D-588A6682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ANTI-TRAP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C75A7-1A4B-4AAC-98B8-FC9F27D2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Three traps, three explicit defenses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0954-7239-4FD5-B2FE-49F388D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7BEB8-F7B8-4419-B7E1-B484CC39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13128-CA4D-4713-8A66-7324802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31A57-013A-4396-996F-FD8DA90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638550" cy="38862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23666-3D19-4B6A-86B6-9D2A8B5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638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39707-979B-407B-B503-DF270CA8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KEYWORD STUFFER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48617-DD5F-4B39-BD95-F26D261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Perfect AI skills; career says marketing or unrelated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3138C-651B-4D6C-A963-61AF41F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BA3F9-9D0E-4D20-BFC0-F863E5D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9831D-7598-4AB6-83D9-53E4227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Title-career fit + skill-career validation + stuffing penalty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E1063-B780-4F3B-9163-2E2F75B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72459-B311-4A8A-91B2-BEADBDC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DOWN-RANK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43B9C-14D3-4FFE-BD12-ABA1F4D9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638550" cy="38862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611E6-8A7E-4800-A5C7-2CE754F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638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7A7DB-9EA3-4454-903F-4735CD83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IMPOSSIBLE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D024B-BE7B-45D3-954A-3E50FEAA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Experience, dates, or expert-skill durations contradict each other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5A340-A90F-428C-BF20-CD4D54C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46FE0-B425-445A-9C6F-7935C6E8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B789D-2B6C-4126-B0C7-E539AE10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Cross-field integrity scorer; decisive contradictions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2579B-DE10-4392-8E8C-909E9B6D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F6113-F6E8-4ABD-A16A-3ABDF493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REMOVE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24925-6012-4932-9BA0-E1ABF82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638550" cy="38862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5A9F7-8500-48F0-81F3-8014C17D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638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0FE55-FAE7-4365-8F13-283BCE9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UNREACHABLE STAR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0E733-CAF3-4BFA-9244-E843742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Excellent retrieval background; 5% response rate and stale activity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188F8-7B70-4EFE-926D-E46640C2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D03F2-D1E5-4A45-AF28-56037DE7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8"/>
                </a:solidFill>
                <a:latin typeface="Aptos"/>
                <a:ea typeface="Aptos"/>
                <a:cs typeface="Aptos"/>
              </a:rPr>
              <a:t>DEFENSE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64E4CD-6F39-49FA-969B-6A3CB2BD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Weighted availability score + explicit unreachable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9AE2C-0338-4E34-9221-DFC50325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73315E-E9EC-4B93-AD7D-B1431891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DOWN-WEIGHT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0B01CC-2313-4997-91A6-661DE4F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Result: zero detected honeypots and zero very-low-availability profiles in the submitted top 100.</a:t>
            </a:r>
          </a:p>
        </p:txBody>
      </p:sp>
    </p:spTree>
    <p:extLst>
      <p:ext uri="{BB962C8B-B14F-4D97-AF65-F5344CB8AC3E}">
        <p14:creationId xmlns:p14="http://schemas.microsoft.com/office/powerpoint/2010/main" val="1010196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4B7E9-72BD-43C9-8EEF-EC0360DC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B7361-7CEA-41C8-B266-AB8ABE7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MEASURED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1499B-B7E0-43A0-9C80-A2C1F7CD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The full-pool run stays fast and the shortlist stays clean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3AC8-7139-4B57-96D1-C154CE0A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7AAB4-E6FD-4C27-8CE2-54E32E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F9F6F-18F1-4759-B762-1B0D371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EEE25-D12B-4DCC-94E0-43D9D57A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1C478-DBDA-40F7-A91B-2CA6F02A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100,000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B2037-AC06-4B30-ADE7-8161A58C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profiles ranked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D23EE-F1F7-43F0-B3FF-A6B085E8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668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4757A-5745-495F-860E-264201BC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383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84.6s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BCFF5-A112-43DD-ABB3-BCA21555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end-to-end CPU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554A6-C566-4E2E-897C-7D5A3AD3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668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A20B1-601D-4C94-8127-DD763E6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3CDE3-C6FE-4AA2-8527-DEA07225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decisive contradictions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1EEB5-4670-47B7-9A24-1775C28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432C8-FCE5-402B-A150-8C2C3DDC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383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E9BE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E9BEF"/>
                </a:solidFill>
                <a:latin typeface="Aptos"/>
                <a:ea typeface="Aptos"/>
                <a:cs typeface="Aptos"/>
              </a:rPr>
              <a:t>100/100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1F44E-071D-4B69-9DD3-43AE6B0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unique reasonings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27D4F-869D-4825-A876-D1CC14A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9CDEC-3070-460E-AD9E-E106D724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RUNTIME BREAKDOWN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FA22E-FAFB-4F17-BB39-FBE59426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Load candidates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2EA39-4022-4EA3-B4FF-8947E57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2762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4E2B5-9D2C-4D47-B6A4-CC57701E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30013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73FCF-B978-4EB1-BB9E-E4CA5E2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9.0s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F749A-FFAD-4108-90D5-20E42DA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Score + 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BA684-CC6C-45D5-AB6A-419EE37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2762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1AEE4-F954-4266-9C28-0F362C92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242396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FBE51-027D-46E9-852B-6C6C86A3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1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74.7s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A5C33-A7AD-4B94-86E5-D9A800E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Budget 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56A65D-8568-4B81-BE25-115A66B3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6FAF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AFD"/>
                </a:solidFill>
                <a:latin typeface="Aptos"/>
                <a:ea typeface="Aptos"/>
                <a:cs typeface="Aptos"/>
              </a:rPr>
              <a:t>28%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2339D-AB9A-4155-9613-83515965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of 5-minute limit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F6797-E56E-455D-B1B0-E87CAB43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5600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94562-FC90-4475-9474-FBEDECC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SHORTLIST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10681-5BF9-42A9-8516-0765BB65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Top 10 exact-match tier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901AAF-5F79-470B-951D-0F6C7A4D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9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00B81F-9A88-4896-B4FF-8840110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Top 50 tier 5 + tier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09BF05-405D-4781-A838-CA420F6C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67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13 + 37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F7AA3A-7AD8-40E8-B22B-B9DEE88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Top 100 tier 5 + tier 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56468D-50A5-426C-B79E-BEDCF21D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7E9B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E9BEF"/>
                </a:solidFill>
                <a:latin typeface="Aptos"/>
                <a:ea typeface="Aptos"/>
                <a:cs typeface="Aptos"/>
              </a:rPr>
              <a:t>13 + 87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6CD317-ABB8-493B-B5AE-F8A5FE9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Honeypots / unavailable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8245A1-B0F6-40C6-A462-46D3F73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 / 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80A39-3F4C-48A2-B95D-E9F30B00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CF220C-A69C-4E21-A3C7-7BE2B8EA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861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9.0s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77941D-0F5E-4C80-A9AD-728082BA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5290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3E0717-CCE2-4017-B61A-AFC77FB8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74.7s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67F777-751B-4DFC-AD46-F4EB8860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814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623CD4-4E77-4FA8-B5D0-FD6D2D82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9.0s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7C7033-5354-4799-BD29-5EAE2505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338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A0875-D513-4A9D-8E5C-B3920272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672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74.7s</a:t>
            </a:r>
          </a:p>
        </p:txBody>
      </p:sp>
    </p:spTree>
    <p:extLst>
      <p:ext uri="{BB962C8B-B14F-4D97-AF65-F5344CB8AC3E}">
        <p14:creationId xmlns:p14="http://schemas.microsoft.com/office/powerpoint/2010/main" val="1250772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BD66A-FD12-4C64-878D-7A914E5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9121-3888-49F1-AA04-94DC92D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SUBMISSION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E18A7-E214-487B-815F-FE5FF108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Built to survive every evaluation stage, not just scoring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6FE19-3C7E-4290-92F1-5510B762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10496-A8BC-44A1-BE4B-5813AB93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8"/>
                </a:solidFill>
                <a:latin typeface="Aptos"/>
                <a:ea typeface="Aptos"/>
                <a:cs typeface="Aptos"/>
              </a:rPr>
              <a:t>Local code + official challenge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05673-1F97-42D5-8CF2-EFF8A249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D69EE-9069-472F-BB8D-FBBF2F0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13CA-9C24-411B-ACBD-DA3878C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C78C6-EE02-4A8C-B19C-2261CF7E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9DF3F-5126-45D3-92A5-D7FE2636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Official validator passes; exactly 100 ranked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780CF-7E04-4290-9EF0-6DD48DB7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67841-3659-4D37-B278-0C94124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FF806-60A5-41D9-9EC1-8E69CEB8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CF8FC-0D88-4858-9BF5-D9D5C9B4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Top-10-first ranking with exact-match prior and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CA402-3CAE-4046-861C-116BB0CA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9BEF"/>
          </a:solidFill>
          <a:ln xmlns:a="http://schemas.openxmlformats.org/drawingml/2006/main" w="9525">
            <a:solidFill>
              <a:srgbClr val="7E9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D37B0-33AB-4422-9C4F-952096BC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F6D7B-6840-4B40-8300-2E512DBA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9BE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E9BEF"/>
                </a:solidFill>
                <a:latin typeface="Aptos"/>
                <a:ea typeface="Aptos"/>
                <a:cs typeface="Aptos"/>
              </a:rPr>
              <a:t>REPRODUCE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E0ABC-0DD8-4C1A-826F-A084BEF3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F0F7"/>
                </a:solidFill>
                <a:latin typeface="Aptos"/>
                <a:ea typeface="Aptos"/>
                <a:cs typeface="Aptos"/>
              </a:rPr>
              <a:t>84.6s CPU-only; no network; Docker + one command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E7234-B3A8-4894-8720-D24E508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7EF0"/>
          </a:solidFill>
          <a:ln xmlns:a="http://schemas.openxmlformats.org/drawingml/2006/main" w="9525">
            <a:solidFill>
              <a:srgbClr val="D37E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0E790-1869-4B33-B065-E468F847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64964-23E1-46E7-9E32-DD1BBF03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37EF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37EF0"/>
                </a:solidFill>
                <a:latin typeface="Aptos"/>
                <a:ea typeface="Aptos"/>
                <a:cs typeface="Aptos"/>
              </a:rPr>
              <a:t>MANUAL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5B097-DC32-4948-926A-8E4B97D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100 unique, candidate-grounded reasons; honest trade-offs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D7E52-6D1C-406C-9329-6352571A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D50F8-8F27-4193-86DC-0A5E004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E6F5B-299A-4D15-9ADC-E933BE0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DEFEND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1941F-0D4B-4498-B83F-0A4ADD1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One calibrated score; explicit gates; documented limitations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ADA06-3F34-46DC-A99C-383F4F4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90525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27312-6015-46DE-9B48-4914FAE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HONEST LIMITATION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56678-8F34-4848-BC06-0C49F975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6FAFD"/>
                </a:solidFill>
                <a:latin typeface="Aptos Display"/>
                <a:ea typeface="Aptos Display"/>
                <a:cs typeface="Aptos Display"/>
              </a:rPr>
              <a:t>No public labels means no one can know the hidden score before judging.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D28DD-0453-4A2C-9EAB-9AC0AF4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F0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F0F7"/>
                </a:solidFill>
                <a:latin typeface="Aptos"/>
                <a:ea typeface="Aptos"/>
                <a:cs typeface="Aptos"/>
              </a:rPr>
              <a:t>Our response is disciplined inference: challenge-specific priors, measurable audits, deterministic reproduction, and clear reasoning.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6229B5-1733-46DD-A7B0-E79FD92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9525">
            <a:solidFill>
              <a:srgbClr val="35D0B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28299-65D4-47B8-9D69-60D609B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READY TO SUBMIT. READY TO EXPLAIN.</a:t>
            </a:r>
          </a:p>
        </p:txBody>
      </p:sp>
    </p:spTree>
    <p:extLst>
      <p:ext uri="{BB962C8B-B14F-4D97-AF65-F5344CB8AC3E}">
        <p14:creationId xmlns:p14="http://schemas.microsoft.com/office/powerpoint/2010/main" val="28148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2026-06-15T16:31:23.5620000Z</dcterms:created>
  <dcterms:modified xsi:type="dcterms:W3CDTF">2026-06-15T16:31:23.5620000Z</dcterms:modified>
</coreProperties>
</file>